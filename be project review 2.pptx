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28"/>
  </p:notesMasterIdLst>
  <p:sldIdLst>
    <p:sldId id="256" r:id="rId5"/>
    <p:sldId id="257" r:id="rId6"/>
    <p:sldId id="270" r:id="rId7"/>
    <p:sldId id="273" r:id="rId8"/>
    <p:sldId id="296" r:id="rId9"/>
    <p:sldId id="269" r:id="rId10"/>
    <p:sldId id="260" r:id="rId11"/>
    <p:sldId id="261" r:id="rId12"/>
    <p:sldId id="262" r:id="rId13"/>
    <p:sldId id="274" r:id="rId14"/>
    <p:sldId id="302" r:id="rId15"/>
    <p:sldId id="299" r:id="rId16"/>
    <p:sldId id="303" r:id="rId17"/>
    <p:sldId id="268" r:id="rId18"/>
    <p:sldId id="271" r:id="rId19"/>
    <p:sldId id="258" r:id="rId20"/>
    <p:sldId id="259" r:id="rId21"/>
    <p:sldId id="263" r:id="rId22"/>
    <p:sldId id="264" r:id="rId23"/>
    <p:sldId id="265" r:id="rId24"/>
    <p:sldId id="266" r:id="rId25"/>
    <p:sldId id="267" r:id="rId26"/>
    <p:sldId id="29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D6605-C19A-5676-9672-6DB9966010C6}" v="58" dt="2025-10-17T05:36:10.592"/>
    <p1510:client id="{32724A2B-E93D-E54A-9349-A490F562B79C}" v="678" dt="2025-10-17T08:42:09.971"/>
    <p1510:client id="{967542A0-442A-BD15-227B-7E300BEBB59F}" v="119" dt="2025-10-17T06:09:27.865"/>
    <p1510:client id="{A4BF74D9-0DAD-AB4F-7390-0FF9EBBB1171}" v="170" dt="2025-10-16T18:44:30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hyperlink" Target="https://www.kaggle.com/datasets/adityammantri/trial-1/data" TargetMode="Externa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0.sv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svg"/><Relationship Id="rId9" Type="http://schemas.openxmlformats.org/officeDocument/2006/relationships/hyperlink" Target="https://www.kaggle.com/datasets/adityammantri/trial-1/data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9737CF-3331-4779-8692-EC28883339D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C7A7FD-2D84-4FD7-BB4E-47244E16330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Rising Cybercrime</a:t>
          </a:r>
          <a:r>
            <a:rPr lang="en-IN"/>
            <a:t>: Online recruitment fraud increased by 300% since COVID-19</a:t>
          </a:r>
          <a:endParaRPr lang="en-US"/>
        </a:p>
      </dgm:t>
    </dgm:pt>
    <dgm:pt modelId="{E4A86D2D-C24A-4CE0-BB8B-F39FE2ADAC6F}" type="parTrans" cxnId="{4EB339E6-238B-4FA1-AEE7-29FB78697C14}">
      <dgm:prSet/>
      <dgm:spPr/>
      <dgm:t>
        <a:bodyPr/>
        <a:lstStyle/>
        <a:p>
          <a:endParaRPr lang="en-US"/>
        </a:p>
      </dgm:t>
    </dgm:pt>
    <dgm:pt modelId="{FF035E48-69AF-42FE-BB8D-FC89718A794E}" type="sibTrans" cxnId="{4EB339E6-238B-4FA1-AEE7-29FB78697C1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B811E84-08F8-4306-92F3-003ACE3BB03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Financial Losses</a:t>
          </a:r>
          <a:r>
            <a:rPr lang="en-IN"/>
            <a:t>: Job seekers lose millions annually to fake job scams</a:t>
          </a:r>
          <a:endParaRPr lang="en-US"/>
        </a:p>
      </dgm:t>
    </dgm:pt>
    <dgm:pt modelId="{E1883D21-8725-40A5-A73A-5C73B16514C6}" type="parTrans" cxnId="{008C1B75-4F55-4CFB-A088-58600CD5E3B1}">
      <dgm:prSet/>
      <dgm:spPr/>
      <dgm:t>
        <a:bodyPr/>
        <a:lstStyle/>
        <a:p>
          <a:endParaRPr lang="en-US"/>
        </a:p>
      </dgm:t>
    </dgm:pt>
    <dgm:pt modelId="{722177C5-F14F-4058-A76F-F9F8A8C51E34}" type="sibTrans" cxnId="{008C1B75-4F55-4CFB-A088-58600CD5E3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A8E0B7-2F03-456E-98B0-8D859F36E89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Limited Solutions</a:t>
          </a:r>
          <a:r>
            <a:rPr lang="en-IN"/>
            <a:t>: Existing systems have poor detection accuracy (50-70% recall)</a:t>
          </a:r>
          <a:endParaRPr lang="en-US"/>
        </a:p>
      </dgm:t>
    </dgm:pt>
    <dgm:pt modelId="{8E2F2A73-0A3E-48C4-8526-06D12FA80C9B}" type="parTrans" cxnId="{72FA8A3B-8AB4-42B2-9ACB-28B36292D1B7}">
      <dgm:prSet/>
      <dgm:spPr/>
      <dgm:t>
        <a:bodyPr/>
        <a:lstStyle/>
        <a:p>
          <a:endParaRPr lang="en-US"/>
        </a:p>
      </dgm:t>
    </dgm:pt>
    <dgm:pt modelId="{01453D09-D403-4BC6-A9E8-FFC282012DFF}" type="sibTrans" cxnId="{72FA8A3B-8AB4-42B2-9ACB-28B36292D1B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3E31F0F-DA23-4398-B9D1-3E9B9781614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Class Imbalance</a:t>
          </a:r>
          <a:r>
            <a:rPr lang="en-IN"/>
            <a:t>: Fraudulent posts are only 2% of total job listings</a:t>
          </a:r>
          <a:endParaRPr lang="en-US"/>
        </a:p>
      </dgm:t>
    </dgm:pt>
    <dgm:pt modelId="{2A0E2F3A-7A96-40D6-A37A-5A0DFBCE3686}" type="parTrans" cxnId="{6CDD7FA3-E42D-4B32-B4C3-D9CF3A3458DB}">
      <dgm:prSet/>
      <dgm:spPr/>
      <dgm:t>
        <a:bodyPr/>
        <a:lstStyle/>
        <a:p>
          <a:endParaRPr lang="en-US"/>
        </a:p>
      </dgm:t>
    </dgm:pt>
    <dgm:pt modelId="{55F64A43-DF27-45E7-8BD6-FC193A36D83E}" type="sibTrans" cxnId="{6CDD7FA3-E42D-4B32-B4C3-D9CF3A3458DB}">
      <dgm:prSet/>
      <dgm:spPr/>
      <dgm:t>
        <a:bodyPr/>
        <a:lstStyle/>
        <a:p>
          <a:endParaRPr lang="en-US"/>
        </a:p>
      </dgm:t>
    </dgm:pt>
    <dgm:pt modelId="{D04DE0C5-33CC-4F5F-A583-00155D58981A}" type="pres">
      <dgm:prSet presAssocID="{D19737CF-3331-4779-8692-EC28883339DA}" presName="root" presStyleCnt="0">
        <dgm:presLayoutVars>
          <dgm:dir/>
          <dgm:resizeHandles val="exact"/>
        </dgm:presLayoutVars>
      </dgm:prSet>
      <dgm:spPr/>
    </dgm:pt>
    <dgm:pt modelId="{C759EAB7-537D-409C-8F7F-BF17A8A248F3}" type="pres">
      <dgm:prSet presAssocID="{D19737CF-3331-4779-8692-EC28883339DA}" presName="container" presStyleCnt="0">
        <dgm:presLayoutVars>
          <dgm:dir/>
          <dgm:resizeHandles val="exact"/>
        </dgm:presLayoutVars>
      </dgm:prSet>
      <dgm:spPr/>
    </dgm:pt>
    <dgm:pt modelId="{F34F6C40-8090-4B4B-81FC-042CAED5F076}" type="pres">
      <dgm:prSet presAssocID="{FDC7A7FD-2D84-4FD7-BB4E-47244E163309}" presName="compNode" presStyleCnt="0"/>
      <dgm:spPr/>
    </dgm:pt>
    <dgm:pt modelId="{EC1A5D9E-EDE7-4F56-A76D-8BDB31D541EB}" type="pres">
      <dgm:prSet presAssocID="{FDC7A7FD-2D84-4FD7-BB4E-47244E163309}" presName="iconBgRect" presStyleLbl="bgShp" presStyleIdx="0" presStyleCnt="4"/>
      <dgm:spPr/>
    </dgm:pt>
    <dgm:pt modelId="{8D700494-3FE4-499C-ADCE-6541BE8F7369}" type="pres">
      <dgm:prSet presAssocID="{FDC7A7FD-2D84-4FD7-BB4E-47244E16330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E12A4F27-6F43-4B1E-8953-C422D3BE4730}" type="pres">
      <dgm:prSet presAssocID="{FDC7A7FD-2D84-4FD7-BB4E-47244E163309}" presName="spaceRect" presStyleCnt="0"/>
      <dgm:spPr/>
    </dgm:pt>
    <dgm:pt modelId="{35A0ABDB-A06D-4CF2-A24D-4892A4A1655F}" type="pres">
      <dgm:prSet presAssocID="{FDC7A7FD-2D84-4FD7-BB4E-47244E163309}" presName="textRect" presStyleLbl="revTx" presStyleIdx="0" presStyleCnt="4">
        <dgm:presLayoutVars>
          <dgm:chMax val="1"/>
          <dgm:chPref val="1"/>
        </dgm:presLayoutVars>
      </dgm:prSet>
      <dgm:spPr/>
    </dgm:pt>
    <dgm:pt modelId="{6700EA4A-D6EA-4A15-B2AA-3AEE971DA8A1}" type="pres">
      <dgm:prSet presAssocID="{FF035E48-69AF-42FE-BB8D-FC89718A794E}" presName="sibTrans" presStyleLbl="sibTrans2D1" presStyleIdx="0" presStyleCnt="0"/>
      <dgm:spPr/>
    </dgm:pt>
    <dgm:pt modelId="{82C57DE3-25C5-4ED3-973A-86FBA929C629}" type="pres">
      <dgm:prSet presAssocID="{9B811E84-08F8-4306-92F3-003ACE3BB036}" presName="compNode" presStyleCnt="0"/>
      <dgm:spPr/>
    </dgm:pt>
    <dgm:pt modelId="{2BD50B9D-0377-4EC7-BB5E-A44AF5EA9664}" type="pres">
      <dgm:prSet presAssocID="{9B811E84-08F8-4306-92F3-003ACE3BB036}" presName="iconBgRect" presStyleLbl="bgShp" presStyleIdx="1" presStyleCnt="4"/>
      <dgm:spPr/>
    </dgm:pt>
    <dgm:pt modelId="{01C1381E-0886-4B38-8BE5-A93DBB17D398}" type="pres">
      <dgm:prSet presAssocID="{9B811E84-08F8-4306-92F3-003ACE3BB03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B893865-47EA-4C39-B9E8-27CA127F6E5F}" type="pres">
      <dgm:prSet presAssocID="{9B811E84-08F8-4306-92F3-003ACE3BB036}" presName="spaceRect" presStyleCnt="0"/>
      <dgm:spPr/>
    </dgm:pt>
    <dgm:pt modelId="{1431CA8C-FCC9-4866-8752-4D0578EAEC72}" type="pres">
      <dgm:prSet presAssocID="{9B811E84-08F8-4306-92F3-003ACE3BB036}" presName="textRect" presStyleLbl="revTx" presStyleIdx="1" presStyleCnt="4">
        <dgm:presLayoutVars>
          <dgm:chMax val="1"/>
          <dgm:chPref val="1"/>
        </dgm:presLayoutVars>
      </dgm:prSet>
      <dgm:spPr/>
    </dgm:pt>
    <dgm:pt modelId="{9D09F817-1FEC-4F90-A9D7-971C83BB113A}" type="pres">
      <dgm:prSet presAssocID="{722177C5-F14F-4058-A76F-F9F8A8C51E34}" presName="sibTrans" presStyleLbl="sibTrans2D1" presStyleIdx="0" presStyleCnt="0"/>
      <dgm:spPr/>
    </dgm:pt>
    <dgm:pt modelId="{794A3C76-4B7C-4C92-BB28-722B7BD7CC13}" type="pres">
      <dgm:prSet presAssocID="{38A8E0B7-2F03-456E-98B0-8D859F36E896}" presName="compNode" presStyleCnt="0"/>
      <dgm:spPr/>
    </dgm:pt>
    <dgm:pt modelId="{DDA155D6-ED4E-4043-B149-75C9A7B938E2}" type="pres">
      <dgm:prSet presAssocID="{38A8E0B7-2F03-456E-98B0-8D859F36E896}" presName="iconBgRect" presStyleLbl="bgShp" presStyleIdx="2" presStyleCnt="4"/>
      <dgm:spPr/>
    </dgm:pt>
    <dgm:pt modelId="{6B579BEF-67B7-440D-A715-A9F8A8498B48}" type="pres">
      <dgm:prSet presAssocID="{38A8E0B7-2F03-456E-98B0-8D859F36E89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4A85156-8579-418F-9E43-8CE6FDB3E129}" type="pres">
      <dgm:prSet presAssocID="{38A8E0B7-2F03-456E-98B0-8D859F36E896}" presName="spaceRect" presStyleCnt="0"/>
      <dgm:spPr/>
    </dgm:pt>
    <dgm:pt modelId="{A3292627-B06B-4830-A596-2D8EE7CD850C}" type="pres">
      <dgm:prSet presAssocID="{38A8E0B7-2F03-456E-98B0-8D859F36E896}" presName="textRect" presStyleLbl="revTx" presStyleIdx="2" presStyleCnt="4">
        <dgm:presLayoutVars>
          <dgm:chMax val="1"/>
          <dgm:chPref val="1"/>
        </dgm:presLayoutVars>
      </dgm:prSet>
      <dgm:spPr/>
    </dgm:pt>
    <dgm:pt modelId="{B6EC3076-7153-422D-BC1C-B07710D72A90}" type="pres">
      <dgm:prSet presAssocID="{01453D09-D403-4BC6-A9E8-FFC282012DFF}" presName="sibTrans" presStyleLbl="sibTrans2D1" presStyleIdx="0" presStyleCnt="0"/>
      <dgm:spPr/>
    </dgm:pt>
    <dgm:pt modelId="{C1847DAC-8F0B-4D94-8EBC-02CB9C0ACF49}" type="pres">
      <dgm:prSet presAssocID="{63E31F0F-DA23-4398-B9D1-3E9B97816149}" presName="compNode" presStyleCnt="0"/>
      <dgm:spPr/>
    </dgm:pt>
    <dgm:pt modelId="{94AD2EFB-0F4A-41C3-AD76-9FDB4A2E851D}" type="pres">
      <dgm:prSet presAssocID="{63E31F0F-DA23-4398-B9D1-3E9B97816149}" presName="iconBgRect" presStyleLbl="bgShp" presStyleIdx="3" presStyleCnt="4"/>
      <dgm:spPr/>
    </dgm:pt>
    <dgm:pt modelId="{7170A4E9-D051-4F6C-B3C2-72AC1C6B28BB}" type="pres">
      <dgm:prSet presAssocID="{63E31F0F-DA23-4398-B9D1-3E9B978161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8712B035-3A87-4ADB-BAAC-66725505219C}" type="pres">
      <dgm:prSet presAssocID="{63E31F0F-DA23-4398-B9D1-3E9B97816149}" presName="spaceRect" presStyleCnt="0"/>
      <dgm:spPr/>
    </dgm:pt>
    <dgm:pt modelId="{51E725A9-3F45-4CC1-A311-E57CCE199E92}" type="pres">
      <dgm:prSet presAssocID="{63E31F0F-DA23-4398-B9D1-3E9B9781614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601DB00-3EA4-4F3D-A426-760BB9AB3FDA}" type="presOf" srcId="{FDC7A7FD-2D84-4FD7-BB4E-47244E163309}" destId="{35A0ABDB-A06D-4CF2-A24D-4892A4A1655F}" srcOrd="0" destOrd="0" presId="urn:microsoft.com/office/officeart/2018/2/layout/IconCircleList"/>
    <dgm:cxn modelId="{FF849A13-2915-4EE8-B9E0-0CFC88613753}" type="presOf" srcId="{722177C5-F14F-4058-A76F-F9F8A8C51E34}" destId="{9D09F817-1FEC-4F90-A9D7-971C83BB113A}" srcOrd="0" destOrd="0" presId="urn:microsoft.com/office/officeart/2018/2/layout/IconCircleList"/>
    <dgm:cxn modelId="{A9EF7920-2F62-4277-A9BB-42EAA81D5F94}" type="presOf" srcId="{38A8E0B7-2F03-456E-98B0-8D859F36E896}" destId="{A3292627-B06B-4830-A596-2D8EE7CD850C}" srcOrd="0" destOrd="0" presId="urn:microsoft.com/office/officeart/2018/2/layout/IconCircleList"/>
    <dgm:cxn modelId="{50865C2E-CDFA-4602-A8E7-95526DAF4CAA}" type="presOf" srcId="{FF035E48-69AF-42FE-BB8D-FC89718A794E}" destId="{6700EA4A-D6EA-4A15-B2AA-3AEE971DA8A1}" srcOrd="0" destOrd="0" presId="urn:microsoft.com/office/officeart/2018/2/layout/IconCircleList"/>
    <dgm:cxn modelId="{35743F33-022C-4668-847D-DAD67AC8F727}" type="presOf" srcId="{9B811E84-08F8-4306-92F3-003ACE3BB036}" destId="{1431CA8C-FCC9-4866-8752-4D0578EAEC72}" srcOrd="0" destOrd="0" presId="urn:microsoft.com/office/officeart/2018/2/layout/IconCircleList"/>
    <dgm:cxn modelId="{72FA8A3B-8AB4-42B2-9ACB-28B36292D1B7}" srcId="{D19737CF-3331-4779-8692-EC28883339DA}" destId="{38A8E0B7-2F03-456E-98B0-8D859F36E896}" srcOrd="2" destOrd="0" parTransId="{8E2F2A73-0A3E-48C4-8526-06D12FA80C9B}" sibTransId="{01453D09-D403-4BC6-A9E8-FFC282012DFF}"/>
    <dgm:cxn modelId="{780E0C43-5CBF-40C0-A364-2E8ED23C1AAD}" type="presOf" srcId="{63E31F0F-DA23-4398-B9D1-3E9B97816149}" destId="{51E725A9-3F45-4CC1-A311-E57CCE199E92}" srcOrd="0" destOrd="0" presId="urn:microsoft.com/office/officeart/2018/2/layout/IconCircleList"/>
    <dgm:cxn modelId="{2FAC2B44-7261-4C70-9113-F189F58E5A29}" type="presOf" srcId="{01453D09-D403-4BC6-A9E8-FFC282012DFF}" destId="{B6EC3076-7153-422D-BC1C-B07710D72A90}" srcOrd="0" destOrd="0" presId="urn:microsoft.com/office/officeart/2018/2/layout/IconCircleList"/>
    <dgm:cxn modelId="{008C1B75-4F55-4CFB-A088-58600CD5E3B1}" srcId="{D19737CF-3331-4779-8692-EC28883339DA}" destId="{9B811E84-08F8-4306-92F3-003ACE3BB036}" srcOrd="1" destOrd="0" parTransId="{E1883D21-8725-40A5-A73A-5C73B16514C6}" sibTransId="{722177C5-F14F-4058-A76F-F9F8A8C51E34}"/>
    <dgm:cxn modelId="{6CDD7FA3-E42D-4B32-B4C3-D9CF3A3458DB}" srcId="{D19737CF-3331-4779-8692-EC28883339DA}" destId="{63E31F0F-DA23-4398-B9D1-3E9B97816149}" srcOrd="3" destOrd="0" parTransId="{2A0E2F3A-7A96-40D6-A37A-5A0DFBCE3686}" sibTransId="{55F64A43-DF27-45E7-8BD6-FC193A36D83E}"/>
    <dgm:cxn modelId="{AC6785DD-1528-46D7-A850-A84A4EFC6670}" type="presOf" srcId="{D19737CF-3331-4779-8692-EC28883339DA}" destId="{D04DE0C5-33CC-4F5F-A583-00155D58981A}" srcOrd="0" destOrd="0" presId="urn:microsoft.com/office/officeart/2018/2/layout/IconCircleList"/>
    <dgm:cxn modelId="{4EB339E6-238B-4FA1-AEE7-29FB78697C14}" srcId="{D19737CF-3331-4779-8692-EC28883339DA}" destId="{FDC7A7FD-2D84-4FD7-BB4E-47244E163309}" srcOrd="0" destOrd="0" parTransId="{E4A86D2D-C24A-4CE0-BB8B-F39FE2ADAC6F}" sibTransId="{FF035E48-69AF-42FE-BB8D-FC89718A794E}"/>
    <dgm:cxn modelId="{8B96BC6A-969F-44C8-8B1E-4B1ACDDD0EDA}" type="presParOf" srcId="{D04DE0C5-33CC-4F5F-A583-00155D58981A}" destId="{C759EAB7-537D-409C-8F7F-BF17A8A248F3}" srcOrd="0" destOrd="0" presId="urn:microsoft.com/office/officeart/2018/2/layout/IconCircleList"/>
    <dgm:cxn modelId="{20D76370-C52B-4A0C-8E4B-D2770B1807BD}" type="presParOf" srcId="{C759EAB7-537D-409C-8F7F-BF17A8A248F3}" destId="{F34F6C40-8090-4B4B-81FC-042CAED5F076}" srcOrd="0" destOrd="0" presId="urn:microsoft.com/office/officeart/2018/2/layout/IconCircleList"/>
    <dgm:cxn modelId="{7F6FF5E5-2661-436C-8F06-C1ED1424BCE9}" type="presParOf" srcId="{F34F6C40-8090-4B4B-81FC-042CAED5F076}" destId="{EC1A5D9E-EDE7-4F56-A76D-8BDB31D541EB}" srcOrd="0" destOrd="0" presId="urn:microsoft.com/office/officeart/2018/2/layout/IconCircleList"/>
    <dgm:cxn modelId="{40EB87F2-C086-4ECC-A741-720979D5BA47}" type="presParOf" srcId="{F34F6C40-8090-4B4B-81FC-042CAED5F076}" destId="{8D700494-3FE4-499C-ADCE-6541BE8F7369}" srcOrd="1" destOrd="0" presId="urn:microsoft.com/office/officeart/2018/2/layout/IconCircleList"/>
    <dgm:cxn modelId="{A29DE829-6B4A-448E-8EB7-C9C4514A08AB}" type="presParOf" srcId="{F34F6C40-8090-4B4B-81FC-042CAED5F076}" destId="{E12A4F27-6F43-4B1E-8953-C422D3BE4730}" srcOrd="2" destOrd="0" presId="urn:microsoft.com/office/officeart/2018/2/layout/IconCircleList"/>
    <dgm:cxn modelId="{96600119-15C9-4D2F-9E51-6F4EC0319626}" type="presParOf" srcId="{F34F6C40-8090-4B4B-81FC-042CAED5F076}" destId="{35A0ABDB-A06D-4CF2-A24D-4892A4A1655F}" srcOrd="3" destOrd="0" presId="urn:microsoft.com/office/officeart/2018/2/layout/IconCircleList"/>
    <dgm:cxn modelId="{6D361194-4F24-407B-B232-5D67FCCDA3C3}" type="presParOf" srcId="{C759EAB7-537D-409C-8F7F-BF17A8A248F3}" destId="{6700EA4A-D6EA-4A15-B2AA-3AEE971DA8A1}" srcOrd="1" destOrd="0" presId="urn:microsoft.com/office/officeart/2018/2/layout/IconCircleList"/>
    <dgm:cxn modelId="{F3398590-8AA2-4DCF-94FC-2C9B8457DD13}" type="presParOf" srcId="{C759EAB7-537D-409C-8F7F-BF17A8A248F3}" destId="{82C57DE3-25C5-4ED3-973A-86FBA929C629}" srcOrd="2" destOrd="0" presId="urn:microsoft.com/office/officeart/2018/2/layout/IconCircleList"/>
    <dgm:cxn modelId="{A5BD92E4-05DE-45B2-9E17-1978F933009D}" type="presParOf" srcId="{82C57DE3-25C5-4ED3-973A-86FBA929C629}" destId="{2BD50B9D-0377-4EC7-BB5E-A44AF5EA9664}" srcOrd="0" destOrd="0" presId="urn:microsoft.com/office/officeart/2018/2/layout/IconCircleList"/>
    <dgm:cxn modelId="{45E84E16-5428-44D8-8A77-A684474782DE}" type="presParOf" srcId="{82C57DE3-25C5-4ED3-973A-86FBA929C629}" destId="{01C1381E-0886-4B38-8BE5-A93DBB17D398}" srcOrd="1" destOrd="0" presId="urn:microsoft.com/office/officeart/2018/2/layout/IconCircleList"/>
    <dgm:cxn modelId="{E2BDE9E4-40A9-440D-96A0-64EF7F8A63D9}" type="presParOf" srcId="{82C57DE3-25C5-4ED3-973A-86FBA929C629}" destId="{5B893865-47EA-4C39-B9E8-27CA127F6E5F}" srcOrd="2" destOrd="0" presId="urn:microsoft.com/office/officeart/2018/2/layout/IconCircleList"/>
    <dgm:cxn modelId="{B12B354C-8FEA-4BC1-93BD-56F0EEBA977A}" type="presParOf" srcId="{82C57DE3-25C5-4ED3-973A-86FBA929C629}" destId="{1431CA8C-FCC9-4866-8752-4D0578EAEC72}" srcOrd="3" destOrd="0" presId="urn:microsoft.com/office/officeart/2018/2/layout/IconCircleList"/>
    <dgm:cxn modelId="{28DFA253-1B19-4592-BB8D-4AEA24FDBC2C}" type="presParOf" srcId="{C759EAB7-537D-409C-8F7F-BF17A8A248F3}" destId="{9D09F817-1FEC-4F90-A9D7-971C83BB113A}" srcOrd="3" destOrd="0" presId="urn:microsoft.com/office/officeart/2018/2/layout/IconCircleList"/>
    <dgm:cxn modelId="{EDA6B957-5DD2-4BEE-9625-DCAEBFD905F6}" type="presParOf" srcId="{C759EAB7-537D-409C-8F7F-BF17A8A248F3}" destId="{794A3C76-4B7C-4C92-BB28-722B7BD7CC13}" srcOrd="4" destOrd="0" presId="urn:microsoft.com/office/officeart/2018/2/layout/IconCircleList"/>
    <dgm:cxn modelId="{6B75C131-241A-49D4-9D6B-F6E1E008AB0B}" type="presParOf" srcId="{794A3C76-4B7C-4C92-BB28-722B7BD7CC13}" destId="{DDA155D6-ED4E-4043-B149-75C9A7B938E2}" srcOrd="0" destOrd="0" presId="urn:microsoft.com/office/officeart/2018/2/layout/IconCircleList"/>
    <dgm:cxn modelId="{8A81C375-F1D2-4ACB-9BA7-E44A1629CE8F}" type="presParOf" srcId="{794A3C76-4B7C-4C92-BB28-722B7BD7CC13}" destId="{6B579BEF-67B7-440D-A715-A9F8A8498B48}" srcOrd="1" destOrd="0" presId="urn:microsoft.com/office/officeart/2018/2/layout/IconCircleList"/>
    <dgm:cxn modelId="{1A2DC306-98BD-464A-A244-7DDD5D99AEDF}" type="presParOf" srcId="{794A3C76-4B7C-4C92-BB28-722B7BD7CC13}" destId="{F4A85156-8579-418F-9E43-8CE6FDB3E129}" srcOrd="2" destOrd="0" presId="urn:microsoft.com/office/officeart/2018/2/layout/IconCircleList"/>
    <dgm:cxn modelId="{4F4D9D4F-4764-405F-9EB6-887A71D16496}" type="presParOf" srcId="{794A3C76-4B7C-4C92-BB28-722B7BD7CC13}" destId="{A3292627-B06B-4830-A596-2D8EE7CD850C}" srcOrd="3" destOrd="0" presId="urn:microsoft.com/office/officeart/2018/2/layout/IconCircleList"/>
    <dgm:cxn modelId="{955925AC-CB12-4A49-8BF4-794900B7B2C6}" type="presParOf" srcId="{C759EAB7-537D-409C-8F7F-BF17A8A248F3}" destId="{B6EC3076-7153-422D-BC1C-B07710D72A90}" srcOrd="5" destOrd="0" presId="urn:microsoft.com/office/officeart/2018/2/layout/IconCircleList"/>
    <dgm:cxn modelId="{D7B3A215-2110-4D4E-82C8-051A3565087F}" type="presParOf" srcId="{C759EAB7-537D-409C-8F7F-BF17A8A248F3}" destId="{C1847DAC-8F0B-4D94-8EBC-02CB9C0ACF49}" srcOrd="6" destOrd="0" presId="urn:microsoft.com/office/officeart/2018/2/layout/IconCircleList"/>
    <dgm:cxn modelId="{49054033-A696-4E09-B006-8481EC7348FD}" type="presParOf" srcId="{C1847DAC-8F0B-4D94-8EBC-02CB9C0ACF49}" destId="{94AD2EFB-0F4A-41C3-AD76-9FDB4A2E851D}" srcOrd="0" destOrd="0" presId="urn:microsoft.com/office/officeart/2018/2/layout/IconCircleList"/>
    <dgm:cxn modelId="{BF54E721-BE26-4A92-8647-9FE1389555BE}" type="presParOf" srcId="{C1847DAC-8F0B-4D94-8EBC-02CB9C0ACF49}" destId="{7170A4E9-D051-4F6C-B3C2-72AC1C6B28BB}" srcOrd="1" destOrd="0" presId="urn:microsoft.com/office/officeart/2018/2/layout/IconCircleList"/>
    <dgm:cxn modelId="{91646DC3-0D86-43C9-816A-BF7FE571399F}" type="presParOf" srcId="{C1847DAC-8F0B-4D94-8EBC-02CB9C0ACF49}" destId="{8712B035-3A87-4ADB-BAAC-66725505219C}" srcOrd="2" destOrd="0" presId="urn:microsoft.com/office/officeart/2018/2/layout/IconCircleList"/>
    <dgm:cxn modelId="{22284F7F-5E8B-4C0B-94E4-AC1D62D4AE0B}" type="presParOf" srcId="{C1847DAC-8F0B-4D94-8EBC-02CB9C0ACF49}" destId="{51E725A9-3F45-4CC1-A311-E57CCE199E9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3D7984-4575-4F0D-87D1-E9D0273E8C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DA86844-1A8B-403A-AF9A-14207A473F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AI-Powered Detection</a:t>
          </a:r>
          <a:r>
            <a:rPr lang="en-US"/>
            <a:t>: Uses BERT (Google's advanced NLP model)</a:t>
          </a:r>
        </a:p>
      </dgm:t>
    </dgm:pt>
    <dgm:pt modelId="{61B498A6-D17B-4B69-8EE8-F2C12546BB17}" type="parTrans" cxnId="{AA3D3490-862B-4984-822D-F61A0B52A6BF}">
      <dgm:prSet/>
      <dgm:spPr/>
      <dgm:t>
        <a:bodyPr/>
        <a:lstStyle/>
        <a:p>
          <a:endParaRPr lang="en-US"/>
        </a:p>
      </dgm:t>
    </dgm:pt>
    <dgm:pt modelId="{593FB289-1FB3-45C0-A0DD-F21228614857}" type="sibTrans" cxnId="{AA3D3490-862B-4984-822D-F61A0B52A6BF}">
      <dgm:prSet/>
      <dgm:spPr/>
      <dgm:t>
        <a:bodyPr/>
        <a:lstStyle/>
        <a:p>
          <a:endParaRPr lang="en-US"/>
        </a:p>
      </dgm:t>
    </dgm:pt>
    <dgm:pt modelId="{59833EAA-F149-4AF3-862B-205ED60E76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Smart Data Balancing</a:t>
          </a:r>
          <a:r>
            <a:rPr lang="en-US"/>
            <a:t>: Implements SMOTE(Synthetic Minority Over-sampling Technique ) variants to handle data imbalance</a:t>
          </a:r>
        </a:p>
      </dgm:t>
    </dgm:pt>
    <dgm:pt modelId="{26D1AA4F-ED4A-456E-BAAB-CB89F65FF40B}" type="parTrans" cxnId="{D475D31A-3D5A-41A8-B94E-23938FBF1FFB}">
      <dgm:prSet/>
      <dgm:spPr/>
      <dgm:t>
        <a:bodyPr/>
        <a:lstStyle/>
        <a:p>
          <a:endParaRPr lang="en-US"/>
        </a:p>
      </dgm:t>
    </dgm:pt>
    <dgm:pt modelId="{E0DCE556-6C4E-4DC3-9BA9-A71A5E783AE5}" type="sibTrans" cxnId="{D475D31A-3D5A-41A8-B94E-23938FBF1FFB}">
      <dgm:prSet/>
      <dgm:spPr/>
      <dgm:t>
        <a:bodyPr/>
        <a:lstStyle/>
        <a:p>
          <a:endParaRPr lang="en-US"/>
        </a:p>
      </dgm:t>
    </dgm:pt>
    <dgm:pt modelId="{112C6D6B-5787-43B9-86A4-5655BAE8A7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Real-time Analysis</a:t>
          </a:r>
          <a:r>
            <a:rPr lang="en-US"/>
            <a:t>: Provides instant fraud scoring for job postings</a:t>
          </a:r>
        </a:p>
      </dgm:t>
    </dgm:pt>
    <dgm:pt modelId="{F66711D0-B120-46AF-A6C3-35470E734C53}" type="parTrans" cxnId="{70812545-4CCA-4518-A7BA-602B834834AF}">
      <dgm:prSet/>
      <dgm:spPr/>
      <dgm:t>
        <a:bodyPr/>
        <a:lstStyle/>
        <a:p>
          <a:endParaRPr lang="en-US"/>
        </a:p>
      </dgm:t>
    </dgm:pt>
    <dgm:pt modelId="{783833CE-36EE-45FF-A326-6B3917F75555}" type="sibTrans" cxnId="{70812545-4CCA-4518-A7BA-602B834834AF}">
      <dgm:prSet/>
      <dgm:spPr/>
      <dgm:t>
        <a:bodyPr/>
        <a:lstStyle/>
        <a:p>
          <a:endParaRPr lang="en-US"/>
        </a:p>
      </dgm:t>
    </dgm:pt>
    <dgm:pt modelId="{243322C4-B318-47C7-9AA5-D3C3F8CA34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Multi-source Data</a:t>
          </a:r>
          <a:r>
            <a:rPr lang="en-US"/>
            <a:t>: Collects from LinkedIn APIs + third-party providers</a:t>
          </a:r>
        </a:p>
      </dgm:t>
    </dgm:pt>
    <dgm:pt modelId="{E272211B-5372-4081-BD87-BEC220247836}" type="parTrans" cxnId="{0616D975-2162-401E-B513-E6CE0B194D96}">
      <dgm:prSet/>
      <dgm:spPr/>
      <dgm:t>
        <a:bodyPr/>
        <a:lstStyle/>
        <a:p>
          <a:endParaRPr lang="en-US"/>
        </a:p>
      </dgm:t>
    </dgm:pt>
    <dgm:pt modelId="{39821681-09CA-435B-A259-2D96FB733C46}" type="sibTrans" cxnId="{0616D975-2162-401E-B513-E6CE0B194D96}">
      <dgm:prSet/>
      <dgm:spPr/>
      <dgm:t>
        <a:bodyPr/>
        <a:lstStyle/>
        <a:p>
          <a:endParaRPr lang="en-US"/>
        </a:p>
      </dgm:t>
    </dgm:pt>
    <dgm:pt modelId="{0FE68338-8B72-4551-AC73-47D3AB27C3BA}" type="pres">
      <dgm:prSet presAssocID="{BC3D7984-4575-4F0D-87D1-E9D0273E8C3C}" presName="root" presStyleCnt="0">
        <dgm:presLayoutVars>
          <dgm:dir/>
          <dgm:resizeHandles val="exact"/>
        </dgm:presLayoutVars>
      </dgm:prSet>
      <dgm:spPr/>
    </dgm:pt>
    <dgm:pt modelId="{C66D9F47-2535-41C5-8678-2329478B6B49}" type="pres">
      <dgm:prSet presAssocID="{0DA86844-1A8B-403A-AF9A-14207A473FB1}" presName="compNode" presStyleCnt="0"/>
      <dgm:spPr/>
    </dgm:pt>
    <dgm:pt modelId="{BB666563-C468-48C5-BB85-BD6DA5091AAE}" type="pres">
      <dgm:prSet presAssocID="{0DA86844-1A8B-403A-AF9A-14207A473FB1}" presName="bgRect" presStyleLbl="bgShp" presStyleIdx="0" presStyleCnt="4"/>
      <dgm:spPr/>
    </dgm:pt>
    <dgm:pt modelId="{F40A34EA-C49D-448A-854D-7C3C627C9C65}" type="pres">
      <dgm:prSet presAssocID="{0DA86844-1A8B-403A-AF9A-14207A473FB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ACA3682-490B-4D20-A70C-FCC7FA633A59}" type="pres">
      <dgm:prSet presAssocID="{0DA86844-1A8B-403A-AF9A-14207A473FB1}" presName="spaceRect" presStyleCnt="0"/>
      <dgm:spPr/>
    </dgm:pt>
    <dgm:pt modelId="{2CEA5B65-EE48-477F-9903-3BE238D825B8}" type="pres">
      <dgm:prSet presAssocID="{0DA86844-1A8B-403A-AF9A-14207A473FB1}" presName="parTx" presStyleLbl="revTx" presStyleIdx="0" presStyleCnt="4">
        <dgm:presLayoutVars>
          <dgm:chMax val="0"/>
          <dgm:chPref val="0"/>
        </dgm:presLayoutVars>
      </dgm:prSet>
      <dgm:spPr/>
    </dgm:pt>
    <dgm:pt modelId="{84584722-7C48-4E8D-9CBB-868525171BAA}" type="pres">
      <dgm:prSet presAssocID="{593FB289-1FB3-45C0-A0DD-F21228614857}" presName="sibTrans" presStyleCnt="0"/>
      <dgm:spPr/>
    </dgm:pt>
    <dgm:pt modelId="{47FE5453-AB25-4B3E-A3D1-39A89B20F896}" type="pres">
      <dgm:prSet presAssocID="{59833EAA-F149-4AF3-862B-205ED60E7669}" presName="compNode" presStyleCnt="0"/>
      <dgm:spPr/>
    </dgm:pt>
    <dgm:pt modelId="{A2362A26-5ACE-4814-A5D7-FBAC59876633}" type="pres">
      <dgm:prSet presAssocID="{59833EAA-F149-4AF3-862B-205ED60E7669}" presName="bgRect" presStyleLbl="bgShp" presStyleIdx="1" presStyleCnt="4"/>
      <dgm:spPr/>
    </dgm:pt>
    <dgm:pt modelId="{3B148E11-15B0-4787-8CAE-DD4A1FCEEF69}" type="pres">
      <dgm:prSet presAssocID="{59833EAA-F149-4AF3-862B-205ED60E766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FE80325-F218-48FD-BBA1-77265F544134}" type="pres">
      <dgm:prSet presAssocID="{59833EAA-F149-4AF3-862B-205ED60E7669}" presName="spaceRect" presStyleCnt="0"/>
      <dgm:spPr/>
    </dgm:pt>
    <dgm:pt modelId="{B253B87A-367F-48A2-B2DB-F9DE176A89A0}" type="pres">
      <dgm:prSet presAssocID="{59833EAA-F149-4AF3-862B-205ED60E7669}" presName="parTx" presStyleLbl="revTx" presStyleIdx="1" presStyleCnt="4">
        <dgm:presLayoutVars>
          <dgm:chMax val="0"/>
          <dgm:chPref val="0"/>
        </dgm:presLayoutVars>
      </dgm:prSet>
      <dgm:spPr/>
    </dgm:pt>
    <dgm:pt modelId="{05482E68-6A98-4383-983F-644B43B0416D}" type="pres">
      <dgm:prSet presAssocID="{E0DCE556-6C4E-4DC3-9BA9-A71A5E783AE5}" presName="sibTrans" presStyleCnt="0"/>
      <dgm:spPr/>
    </dgm:pt>
    <dgm:pt modelId="{4D609E5F-8300-4535-B0C5-0ECCC3F2E43D}" type="pres">
      <dgm:prSet presAssocID="{112C6D6B-5787-43B9-86A4-5655BAE8A745}" presName="compNode" presStyleCnt="0"/>
      <dgm:spPr/>
    </dgm:pt>
    <dgm:pt modelId="{53672791-DC5A-4BA6-90DF-1334269613DE}" type="pres">
      <dgm:prSet presAssocID="{112C6D6B-5787-43B9-86A4-5655BAE8A745}" presName="bgRect" presStyleLbl="bgShp" presStyleIdx="2" presStyleCnt="4"/>
      <dgm:spPr/>
    </dgm:pt>
    <dgm:pt modelId="{FAF1E040-2F7C-4443-8415-566F6E890776}" type="pres">
      <dgm:prSet presAssocID="{112C6D6B-5787-43B9-86A4-5655BAE8A74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9F1C5C4F-DDD4-419E-8B8E-B1580DCF144C}" type="pres">
      <dgm:prSet presAssocID="{112C6D6B-5787-43B9-86A4-5655BAE8A745}" presName="spaceRect" presStyleCnt="0"/>
      <dgm:spPr/>
    </dgm:pt>
    <dgm:pt modelId="{992AD9A3-C184-4316-A0D5-9FD0453A17F7}" type="pres">
      <dgm:prSet presAssocID="{112C6D6B-5787-43B9-86A4-5655BAE8A745}" presName="parTx" presStyleLbl="revTx" presStyleIdx="2" presStyleCnt="4">
        <dgm:presLayoutVars>
          <dgm:chMax val="0"/>
          <dgm:chPref val="0"/>
        </dgm:presLayoutVars>
      </dgm:prSet>
      <dgm:spPr/>
    </dgm:pt>
    <dgm:pt modelId="{CE597A70-80A9-40D6-955E-EF7049668039}" type="pres">
      <dgm:prSet presAssocID="{783833CE-36EE-45FF-A326-6B3917F75555}" presName="sibTrans" presStyleCnt="0"/>
      <dgm:spPr/>
    </dgm:pt>
    <dgm:pt modelId="{9DDB1012-A397-4802-89DC-F9FAAF2A1978}" type="pres">
      <dgm:prSet presAssocID="{243322C4-B318-47C7-9AA5-D3C3F8CA3443}" presName="compNode" presStyleCnt="0"/>
      <dgm:spPr/>
    </dgm:pt>
    <dgm:pt modelId="{0D33B581-DB29-41A9-80BB-A9B022357A24}" type="pres">
      <dgm:prSet presAssocID="{243322C4-B318-47C7-9AA5-D3C3F8CA3443}" presName="bgRect" presStyleLbl="bgShp" presStyleIdx="3" presStyleCnt="4"/>
      <dgm:spPr/>
    </dgm:pt>
    <dgm:pt modelId="{80ACFCD9-BE50-40F8-8428-AB55AE212480}" type="pres">
      <dgm:prSet presAssocID="{243322C4-B318-47C7-9AA5-D3C3F8CA344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F468BA8-6A2C-470B-A7C5-3DD028B8031F}" type="pres">
      <dgm:prSet presAssocID="{243322C4-B318-47C7-9AA5-D3C3F8CA3443}" presName="spaceRect" presStyleCnt="0"/>
      <dgm:spPr/>
    </dgm:pt>
    <dgm:pt modelId="{8E37D39E-7509-4207-BF45-B7894223FF29}" type="pres">
      <dgm:prSet presAssocID="{243322C4-B318-47C7-9AA5-D3C3F8CA344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475D31A-3D5A-41A8-B94E-23938FBF1FFB}" srcId="{BC3D7984-4575-4F0D-87D1-E9D0273E8C3C}" destId="{59833EAA-F149-4AF3-862B-205ED60E7669}" srcOrd="1" destOrd="0" parTransId="{26D1AA4F-ED4A-456E-BAAB-CB89F65FF40B}" sibTransId="{E0DCE556-6C4E-4DC3-9BA9-A71A5E783AE5}"/>
    <dgm:cxn modelId="{C889BF20-7555-7541-95A3-D6A33DB25535}" type="presOf" srcId="{0DA86844-1A8B-403A-AF9A-14207A473FB1}" destId="{2CEA5B65-EE48-477F-9903-3BE238D825B8}" srcOrd="0" destOrd="0" presId="urn:microsoft.com/office/officeart/2018/2/layout/IconVerticalSolidList"/>
    <dgm:cxn modelId="{988DA435-247E-2F41-A32C-00D03665A618}" type="presOf" srcId="{59833EAA-F149-4AF3-862B-205ED60E7669}" destId="{B253B87A-367F-48A2-B2DB-F9DE176A89A0}" srcOrd="0" destOrd="0" presId="urn:microsoft.com/office/officeart/2018/2/layout/IconVerticalSolidList"/>
    <dgm:cxn modelId="{5867503B-E50F-0741-A81B-3D88FCEABC27}" type="presOf" srcId="{112C6D6B-5787-43B9-86A4-5655BAE8A745}" destId="{992AD9A3-C184-4316-A0D5-9FD0453A17F7}" srcOrd="0" destOrd="0" presId="urn:microsoft.com/office/officeart/2018/2/layout/IconVerticalSolidList"/>
    <dgm:cxn modelId="{70812545-4CCA-4518-A7BA-602B834834AF}" srcId="{BC3D7984-4575-4F0D-87D1-E9D0273E8C3C}" destId="{112C6D6B-5787-43B9-86A4-5655BAE8A745}" srcOrd="2" destOrd="0" parTransId="{F66711D0-B120-46AF-A6C3-35470E734C53}" sibTransId="{783833CE-36EE-45FF-A326-6B3917F75555}"/>
    <dgm:cxn modelId="{0616D975-2162-401E-B513-E6CE0B194D96}" srcId="{BC3D7984-4575-4F0D-87D1-E9D0273E8C3C}" destId="{243322C4-B318-47C7-9AA5-D3C3F8CA3443}" srcOrd="3" destOrd="0" parTransId="{E272211B-5372-4081-BD87-BEC220247836}" sibTransId="{39821681-09CA-435B-A259-2D96FB733C46}"/>
    <dgm:cxn modelId="{AA3D3490-862B-4984-822D-F61A0B52A6BF}" srcId="{BC3D7984-4575-4F0D-87D1-E9D0273E8C3C}" destId="{0DA86844-1A8B-403A-AF9A-14207A473FB1}" srcOrd="0" destOrd="0" parTransId="{61B498A6-D17B-4B69-8EE8-F2C12546BB17}" sibTransId="{593FB289-1FB3-45C0-A0DD-F21228614857}"/>
    <dgm:cxn modelId="{1186A294-0399-CB40-A686-F60468B61E6C}" type="presOf" srcId="{243322C4-B318-47C7-9AA5-D3C3F8CA3443}" destId="{8E37D39E-7509-4207-BF45-B7894223FF29}" srcOrd="0" destOrd="0" presId="urn:microsoft.com/office/officeart/2018/2/layout/IconVerticalSolidList"/>
    <dgm:cxn modelId="{79331FAC-D607-DA43-B96E-23192027449B}" type="presOf" srcId="{BC3D7984-4575-4F0D-87D1-E9D0273E8C3C}" destId="{0FE68338-8B72-4551-AC73-47D3AB27C3BA}" srcOrd="0" destOrd="0" presId="urn:microsoft.com/office/officeart/2018/2/layout/IconVerticalSolidList"/>
    <dgm:cxn modelId="{CD191D06-1E60-7247-9B11-673BBE9867A4}" type="presParOf" srcId="{0FE68338-8B72-4551-AC73-47D3AB27C3BA}" destId="{C66D9F47-2535-41C5-8678-2329478B6B49}" srcOrd="0" destOrd="0" presId="urn:microsoft.com/office/officeart/2018/2/layout/IconVerticalSolidList"/>
    <dgm:cxn modelId="{241D80B5-04FD-3845-A401-69E3939719AA}" type="presParOf" srcId="{C66D9F47-2535-41C5-8678-2329478B6B49}" destId="{BB666563-C468-48C5-BB85-BD6DA5091AAE}" srcOrd="0" destOrd="0" presId="urn:microsoft.com/office/officeart/2018/2/layout/IconVerticalSolidList"/>
    <dgm:cxn modelId="{21EDFC12-0869-6C48-90D0-1B1686B5A312}" type="presParOf" srcId="{C66D9F47-2535-41C5-8678-2329478B6B49}" destId="{F40A34EA-C49D-448A-854D-7C3C627C9C65}" srcOrd="1" destOrd="0" presId="urn:microsoft.com/office/officeart/2018/2/layout/IconVerticalSolidList"/>
    <dgm:cxn modelId="{0B9DACDF-8D2F-F94B-BF2C-B640FD12542E}" type="presParOf" srcId="{C66D9F47-2535-41C5-8678-2329478B6B49}" destId="{7ACA3682-490B-4D20-A70C-FCC7FA633A59}" srcOrd="2" destOrd="0" presId="urn:microsoft.com/office/officeart/2018/2/layout/IconVerticalSolidList"/>
    <dgm:cxn modelId="{D2AC82CF-A73C-F048-89BB-2C1701DDE711}" type="presParOf" srcId="{C66D9F47-2535-41C5-8678-2329478B6B49}" destId="{2CEA5B65-EE48-477F-9903-3BE238D825B8}" srcOrd="3" destOrd="0" presId="urn:microsoft.com/office/officeart/2018/2/layout/IconVerticalSolidList"/>
    <dgm:cxn modelId="{AB115F2A-2ED3-8B40-94FC-136223680A45}" type="presParOf" srcId="{0FE68338-8B72-4551-AC73-47D3AB27C3BA}" destId="{84584722-7C48-4E8D-9CBB-868525171BAA}" srcOrd="1" destOrd="0" presId="urn:microsoft.com/office/officeart/2018/2/layout/IconVerticalSolidList"/>
    <dgm:cxn modelId="{22E9BD6E-F87D-9E42-AC81-416C997AF3C2}" type="presParOf" srcId="{0FE68338-8B72-4551-AC73-47D3AB27C3BA}" destId="{47FE5453-AB25-4B3E-A3D1-39A89B20F896}" srcOrd="2" destOrd="0" presId="urn:microsoft.com/office/officeart/2018/2/layout/IconVerticalSolidList"/>
    <dgm:cxn modelId="{79923F86-7EC7-BD41-885F-3A94C96E01C2}" type="presParOf" srcId="{47FE5453-AB25-4B3E-A3D1-39A89B20F896}" destId="{A2362A26-5ACE-4814-A5D7-FBAC59876633}" srcOrd="0" destOrd="0" presId="urn:microsoft.com/office/officeart/2018/2/layout/IconVerticalSolidList"/>
    <dgm:cxn modelId="{29FBE6CF-7F8C-2041-A963-C179EFAB512C}" type="presParOf" srcId="{47FE5453-AB25-4B3E-A3D1-39A89B20F896}" destId="{3B148E11-15B0-4787-8CAE-DD4A1FCEEF69}" srcOrd="1" destOrd="0" presId="urn:microsoft.com/office/officeart/2018/2/layout/IconVerticalSolidList"/>
    <dgm:cxn modelId="{7FBE2B0A-2A6C-A548-ABB1-D3A0FE49DD37}" type="presParOf" srcId="{47FE5453-AB25-4B3E-A3D1-39A89B20F896}" destId="{0FE80325-F218-48FD-BBA1-77265F544134}" srcOrd="2" destOrd="0" presId="urn:microsoft.com/office/officeart/2018/2/layout/IconVerticalSolidList"/>
    <dgm:cxn modelId="{1BF06849-F6B5-7249-8F49-D966E84205D2}" type="presParOf" srcId="{47FE5453-AB25-4B3E-A3D1-39A89B20F896}" destId="{B253B87A-367F-48A2-B2DB-F9DE176A89A0}" srcOrd="3" destOrd="0" presId="urn:microsoft.com/office/officeart/2018/2/layout/IconVerticalSolidList"/>
    <dgm:cxn modelId="{0CB95CCC-7CA4-F64B-A010-B01386A121DC}" type="presParOf" srcId="{0FE68338-8B72-4551-AC73-47D3AB27C3BA}" destId="{05482E68-6A98-4383-983F-644B43B0416D}" srcOrd="3" destOrd="0" presId="urn:microsoft.com/office/officeart/2018/2/layout/IconVerticalSolidList"/>
    <dgm:cxn modelId="{3F3A86F9-B988-3641-AD99-6B7AA047E68E}" type="presParOf" srcId="{0FE68338-8B72-4551-AC73-47D3AB27C3BA}" destId="{4D609E5F-8300-4535-B0C5-0ECCC3F2E43D}" srcOrd="4" destOrd="0" presId="urn:microsoft.com/office/officeart/2018/2/layout/IconVerticalSolidList"/>
    <dgm:cxn modelId="{53E0D8CC-DD80-0F43-B294-3246812062F4}" type="presParOf" srcId="{4D609E5F-8300-4535-B0C5-0ECCC3F2E43D}" destId="{53672791-DC5A-4BA6-90DF-1334269613DE}" srcOrd="0" destOrd="0" presId="urn:microsoft.com/office/officeart/2018/2/layout/IconVerticalSolidList"/>
    <dgm:cxn modelId="{EC49CC2C-7AAE-A14B-AA57-07E827A336B5}" type="presParOf" srcId="{4D609E5F-8300-4535-B0C5-0ECCC3F2E43D}" destId="{FAF1E040-2F7C-4443-8415-566F6E890776}" srcOrd="1" destOrd="0" presId="urn:microsoft.com/office/officeart/2018/2/layout/IconVerticalSolidList"/>
    <dgm:cxn modelId="{BBDD15EE-6DE6-6D4F-8200-7CFFD9FB260F}" type="presParOf" srcId="{4D609E5F-8300-4535-B0C5-0ECCC3F2E43D}" destId="{9F1C5C4F-DDD4-419E-8B8E-B1580DCF144C}" srcOrd="2" destOrd="0" presId="urn:microsoft.com/office/officeart/2018/2/layout/IconVerticalSolidList"/>
    <dgm:cxn modelId="{F0E78F58-0AA3-2D42-AE9F-75C9EC7B8B3C}" type="presParOf" srcId="{4D609E5F-8300-4535-B0C5-0ECCC3F2E43D}" destId="{992AD9A3-C184-4316-A0D5-9FD0453A17F7}" srcOrd="3" destOrd="0" presId="urn:microsoft.com/office/officeart/2018/2/layout/IconVerticalSolidList"/>
    <dgm:cxn modelId="{764FB999-5110-A443-B95C-94C133421C1B}" type="presParOf" srcId="{0FE68338-8B72-4551-AC73-47D3AB27C3BA}" destId="{CE597A70-80A9-40D6-955E-EF7049668039}" srcOrd="5" destOrd="0" presId="urn:microsoft.com/office/officeart/2018/2/layout/IconVerticalSolidList"/>
    <dgm:cxn modelId="{89E5873F-8848-A042-8D33-15ACB9732B1A}" type="presParOf" srcId="{0FE68338-8B72-4551-AC73-47D3AB27C3BA}" destId="{9DDB1012-A397-4802-89DC-F9FAAF2A1978}" srcOrd="6" destOrd="0" presId="urn:microsoft.com/office/officeart/2018/2/layout/IconVerticalSolidList"/>
    <dgm:cxn modelId="{B37768A8-F4E4-F844-876D-C535CB962E40}" type="presParOf" srcId="{9DDB1012-A397-4802-89DC-F9FAAF2A1978}" destId="{0D33B581-DB29-41A9-80BB-A9B022357A24}" srcOrd="0" destOrd="0" presId="urn:microsoft.com/office/officeart/2018/2/layout/IconVerticalSolidList"/>
    <dgm:cxn modelId="{EF22D1D4-EA20-3645-8AC1-88B2202EB513}" type="presParOf" srcId="{9DDB1012-A397-4802-89DC-F9FAAF2A1978}" destId="{80ACFCD9-BE50-40F8-8428-AB55AE212480}" srcOrd="1" destOrd="0" presId="urn:microsoft.com/office/officeart/2018/2/layout/IconVerticalSolidList"/>
    <dgm:cxn modelId="{78A50CFC-6463-FF4C-8F97-CE1A5B07C702}" type="presParOf" srcId="{9DDB1012-A397-4802-89DC-F9FAAF2A1978}" destId="{AF468BA8-6A2C-470B-A7C5-3DD028B8031F}" srcOrd="2" destOrd="0" presId="urn:microsoft.com/office/officeart/2018/2/layout/IconVerticalSolidList"/>
    <dgm:cxn modelId="{CB516E3F-3B98-114D-8585-CD57033FF3E8}" type="presParOf" srcId="{9DDB1012-A397-4802-89DC-F9FAAF2A1978}" destId="{8E37D39E-7509-4207-BF45-B7894223FF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7D3212-3521-48B6-BD9D-55C515EF522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AE3D50-B7F1-488E-995F-AE8BF1B784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contains a mix of real and fake job listings from all over the world.</a:t>
          </a:r>
        </a:p>
      </dgm:t>
    </dgm:pt>
    <dgm:pt modelId="{27554CD7-4BF1-44ED-AC03-28A68315955D}" type="parTrans" cxnId="{2C359EE4-31E2-4D38-9C11-A28BD4B1B766}">
      <dgm:prSet/>
      <dgm:spPr/>
      <dgm:t>
        <a:bodyPr/>
        <a:lstStyle/>
        <a:p>
          <a:endParaRPr lang="en-US"/>
        </a:p>
      </dgm:t>
    </dgm:pt>
    <dgm:pt modelId="{0DBF1E83-156E-45DC-9A3A-AEDA854ED5CC}" type="sibTrans" cxnId="{2C359EE4-31E2-4D38-9C11-A28BD4B1B766}">
      <dgm:prSet/>
      <dgm:spPr/>
      <dgm:t>
        <a:bodyPr/>
        <a:lstStyle/>
        <a:p>
          <a:endParaRPr lang="en-US"/>
        </a:p>
      </dgm:t>
    </dgm:pt>
    <dgm:pt modelId="{739BF1D8-AE5B-48FF-8D6D-F63D7FD6D3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job posts are clearly marked as real (0) or fake (1), which is great for training supervised machine learning models.</a:t>
          </a:r>
        </a:p>
      </dgm:t>
    </dgm:pt>
    <dgm:pt modelId="{FB7D6B0C-4BDE-4EBA-81C2-56EF2C7D376A}" type="parTrans" cxnId="{2FAF84A6-5A07-4029-9B82-FEC8F72BCA42}">
      <dgm:prSet/>
      <dgm:spPr/>
      <dgm:t>
        <a:bodyPr/>
        <a:lstStyle/>
        <a:p>
          <a:endParaRPr lang="en-US"/>
        </a:p>
      </dgm:t>
    </dgm:pt>
    <dgm:pt modelId="{74A04EA8-D3BA-45AE-B026-99D4665FCC54}" type="sibTrans" cxnId="{2FAF84A6-5A07-4029-9B82-FEC8F72BCA42}">
      <dgm:prSet/>
      <dgm:spPr/>
      <dgm:t>
        <a:bodyPr/>
        <a:lstStyle/>
        <a:p>
          <a:endParaRPr lang="en-US"/>
        </a:p>
      </dgm:t>
    </dgm:pt>
    <dgm:pt modelId="{FE944E92-B19E-450C-BCC7-A17F011DF3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54.4k rows and 10 attributes.</a:t>
          </a:r>
        </a:p>
      </dgm:t>
    </dgm:pt>
    <dgm:pt modelId="{2289CB34-743F-457B-8CEC-E2C00503CECB}" type="parTrans" cxnId="{7471F540-B294-4D0F-BBB7-FD4E19ADA867}">
      <dgm:prSet/>
      <dgm:spPr/>
      <dgm:t>
        <a:bodyPr/>
        <a:lstStyle/>
        <a:p>
          <a:endParaRPr lang="en-US"/>
        </a:p>
      </dgm:t>
    </dgm:pt>
    <dgm:pt modelId="{7965B9C1-449A-4FF1-B5DD-4D9FBDF9CF2A}" type="sibTrans" cxnId="{7471F540-B294-4D0F-BBB7-FD4E19ADA867}">
      <dgm:prSet/>
      <dgm:spPr/>
      <dgm:t>
        <a:bodyPr/>
        <a:lstStyle/>
        <a:p>
          <a:endParaRPr lang="en-US"/>
        </a:p>
      </dgm:t>
    </dgm:pt>
    <dgm:pt modelId="{2725A461-0DF2-44A8-9F78-04F149E17F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Link: </a:t>
          </a:r>
          <a:r>
            <a:rPr lang="en-US">
              <a:hlinkClick xmlns:r="http://schemas.openxmlformats.org/officeDocument/2006/relationships" r:id="rId1"/>
            </a:rPr>
            <a:t>kaggle</a:t>
          </a:r>
          <a:endParaRPr lang="en-US"/>
        </a:p>
      </dgm:t>
    </dgm:pt>
    <dgm:pt modelId="{AFCE202A-414D-4EF0-9435-6CC693EE0F9A}" type="parTrans" cxnId="{0E2F04DC-0A21-42DA-8286-8665F97D2780}">
      <dgm:prSet/>
      <dgm:spPr/>
      <dgm:t>
        <a:bodyPr/>
        <a:lstStyle/>
        <a:p>
          <a:endParaRPr lang="en-US"/>
        </a:p>
      </dgm:t>
    </dgm:pt>
    <dgm:pt modelId="{53AA2F43-D830-4D61-9E97-81E665215D5B}" type="sibTrans" cxnId="{0E2F04DC-0A21-42DA-8286-8665F97D2780}">
      <dgm:prSet/>
      <dgm:spPr/>
      <dgm:t>
        <a:bodyPr/>
        <a:lstStyle/>
        <a:p>
          <a:endParaRPr lang="en-US"/>
        </a:p>
      </dgm:t>
    </dgm:pt>
    <dgm:pt modelId="{02642AEA-9BFC-443E-948A-D6C3072386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32.6K real and 13.5k fake job postings</a:t>
          </a:r>
        </a:p>
      </dgm:t>
    </dgm:pt>
    <dgm:pt modelId="{D9B0B4A2-0CEC-4A90-BFCF-6498D889063A}" type="parTrans" cxnId="{5C27D618-F9C6-41A0-9CDE-B8736835595C}">
      <dgm:prSet/>
      <dgm:spPr/>
      <dgm:t>
        <a:bodyPr/>
        <a:lstStyle/>
        <a:p>
          <a:endParaRPr lang="en-US"/>
        </a:p>
      </dgm:t>
    </dgm:pt>
    <dgm:pt modelId="{95C44A03-A769-4CF1-BD44-BD4485D94C6E}" type="sibTrans" cxnId="{5C27D618-F9C6-41A0-9CDE-B8736835595C}">
      <dgm:prSet/>
      <dgm:spPr/>
      <dgm:t>
        <a:bodyPr/>
        <a:lstStyle/>
        <a:p>
          <a:endParaRPr lang="en-US"/>
        </a:p>
      </dgm:t>
    </dgm:pt>
    <dgm:pt modelId="{94E40A43-6B46-4C83-9418-1C7F92D3A0A4}" type="pres">
      <dgm:prSet presAssocID="{D27D3212-3521-48B6-BD9D-55C515EF5223}" presName="root" presStyleCnt="0">
        <dgm:presLayoutVars>
          <dgm:dir/>
          <dgm:resizeHandles val="exact"/>
        </dgm:presLayoutVars>
      </dgm:prSet>
      <dgm:spPr/>
    </dgm:pt>
    <dgm:pt modelId="{BCFF94AC-D31E-4930-B799-8C877C5F62D0}" type="pres">
      <dgm:prSet presAssocID="{05AE3D50-B7F1-488E-995F-AE8BF1B78453}" presName="compNode" presStyleCnt="0"/>
      <dgm:spPr/>
    </dgm:pt>
    <dgm:pt modelId="{206DC26D-CC24-49BA-9FB5-C8BE55346538}" type="pres">
      <dgm:prSet presAssocID="{05AE3D50-B7F1-488E-995F-AE8BF1B78453}" presName="bgRect" presStyleLbl="bgShp" presStyleIdx="0" presStyleCnt="5"/>
      <dgm:spPr/>
    </dgm:pt>
    <dgm:pt modelId="{AFB8CE9B-8D55-4AD4-8F1A-F4130E38C520}" type="pres">
      <dgm:prSet presAssocID="{05AE3D50-B7F1-488E-995F-AE8BF1B78453}" presName="iconRect" presStyleLbl="node1" presStyleIdx="0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7302CA8D-949E-4F5B-877C-263FBB5F6643}" type="pres">
      <dgm:prSet presAssocID="{05AE3D50-B7F1-488E-995F-AE8BF1B78453}" presName="spaceRect" presStyleCnt="0"/>
      <dgm:spPr/>
    </dgm:pt>
    <dgm:pt modelId="{CC76694A-1858-4D02-86A4-B72D83EE8770}" type="pres">
      <dgm:prSet presAssocID="{05AE3D50-B7F1-488E-995F-AE8BF1B78453}" presName="parTx" presStyleLbl="revTx" presStyleIdx="0" presStyleCnt="5">
        <dgm:presLayoutVars>
          <dgm:chMax val="0"/>
          <dgm:chPref val="0"/>
        </dgm:presLayoutVars>
      </dgm:prSet>
      <dgm:spPr/>
    </dgm:pt>
    <dgm:pt modelId="{CCBDC4A1-4812-420F-9753-9BC4CFE12D3F}" type="pres">
      <dgm:prSet presAssocID="{0DBF1E83-156E-45DC-9A3A-AEDA854ED5CC}" presName="sibTrans" presStyleCnt="0"/>
      <dgm:spPr/>
    </dgm:pt>
    <dgm:pt modelId="{80794BD3-3894-403E-9B0D-1D0DD0294167}" type="pres">
      <dgm:prSet presAssocID="{739BF1D8-AE5B-48FF-8D6D-F63D7FD6D365}" presName="compNode" presStyleCnt="0"/>
      <dgm:spPr/>
    </dgm:pt>
    <dgm:pt modelId="{6713660B-2A05-40B9-AB3B-82CB210B8F85}" type="pres">
      <dgm:prSet presAssocID="{739BF1D8-AE5B-48FF-8D6D-F63D7FD6D365}" presName="bgRect" presStyleLbl="bgShp" presStyleIdx="1" presStyleCnt="5"/>
      <dgm:spPr/>
    </dgm:pt>
    <dgm:pt modelId="{DB30A511-2C72-406B-A21F-9E6E620FDBB9}" type="pres">
      <dgm:prSet presAssocID="{739BF1D8-AE5B-48FF-8D6D-F63D7FD6D365}" presName="iconRect" presStyleLbl="node1" presStyleIdx="1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D562CD2-8482-47CF-ACCC-4C6FA726B48C}" type="pres">
      <dgm:prSet presAssocID="{739BF1D8-AE5B-48FF-8D6D-F63D7FD6D365}" presName="spaceRect" presStyleCnt="0"/>
      <dgm:spPr/>
    </dgm:pt>
    <dgm:pt modelId="{9920F418-4EA7-4B49-98FA-FF0FDE9E10B9}" type="pres">
      <dgm:prSet presAssocID="{739BF1D8-AE5B-48FF-8D6D-F63D7FD6D365}" presName="parTx" presStyleLbl="revTx" presStyleIdx="1" presStyleCnt="5">
        <dgm:presLayoutVars>
          <dgm:chMax val="0"/>
          <dgm:chPref val="0"/>
        </dgm:presLayoutVars>
      </dgm:prSet>
      <dgm:spPr/>
    </dgm:pt>
    <dgm:pt modelId="{EDC67E77-8290-4D61-B73E-D185E4227579}" type="pres">
      <dgm:prSet presAssocID="{74A04EA8-D3BA-45AE-B026-99D4665FCC54}" presName="sibTrans" presStyleCnt="0"/>
      <dgm:spPr/>
    </dgm:pt>
    <dgm:pt modelId="{080F13C5-5CA6-4749-91F7-90D6EAF6CB34}" type="pres">
      <dgm:prSet presAssocID="{FE944E92-B19E-450C-BCC7-A17F011DF3CF}" presName="compNode" presStyleCnt="0"/>
      <dgm:spPr/>
    </dgm:pt>
    <dgm:pt modelId="{AFCE8ACC-02C2-4DF7-8BF1-0260227438B3}" type="pres">
      <dgm:prSet presAssocID="{FE944E92-B19E-450C-BCC7-A17F011DF3CF}" presName="bgRect" presStyleLbl="bgShp" presStyleIdx="2" presStyleCnt="5"/>
      <dgm:spPr/>
    </dgm:pt>
    <dgm:pt modelId="{0622A4F5-16F7-4236-B8A4-7FD886718759}" type="pres">
      <dgm:prSet presAssocID="{FE944E92-B19E-450C-BCC7-A17F011DF3CF}" presName="iconRect" presStyleLbl="node1" presStyleIdx="2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969C2C6-E6B4-4D0B-8A63-5C38ED2ED4D8}" type="pres">
      <dgm:prSet presAssocID="{FE944E92-B19E-450C-BCC7-A17F011DF3CF}" presName="spaceRect" presStyleCnt="0"/>
      <dgm:spPr/>
    </dgm:pt>
    <dgm:pt modelId="{3D133EB5-63A1-4297-B573-F28EE5DD3298}" type="pres">
      <dgm:prSet presAssocID="{FE944E92-B19E-450C-BCC7-A17F011DF3CF}" presName="parTx" presStyleLbl="revTx" presStyleIdx="2" presStyleCnt="5">
        <dgm:presLayoutVars>
          <dgm:chMax val="0"/>
          <dgm:chPref val="0"/>
        </dgm:presLayoutVars>
      </dgm:prSet>
      <dgm:spPr/>
    </dgm:pt>
    <dgm:pt modelId="{0304A61A-2B78-4C83-BDC2-14ABC39CFFA5}" type="pres">
      <dgm:prSet presAssocID="{7965B9C1-449A-4FF1-B5DD-4D9FBDF9CF2A}" presName="sibTrans" presStyleCnt="0"/>
      <dgm:spPr/>
    </dgm:pt>
    <dgm:pt modelId="{D02144F2-8AF1-45F9-BE14-6CE14AF0CE69}" type="pres">
      <dgm:prSet presAssocID="{2725A461-0DF2-44A8-9F78-04F149E17F11}" presName="compNode" presStyleCnt="0"/>
      <dgm:spPr/>
    </dgm:pt>
    <dgm:pt modelId="{7753223C-7EDE-4C06-A3CB-B2EBC7CACA47}" type="pres">
      <dgm:prSet presAssocID="{2725A461-0DF2-44A8-9F78-04F149E17F11}" presName="bgRect" presStyleLbl="bgShp" presStyleIdx="3" presStyleCnt="5"/>
      <dgm:spPr/>
    </dgm:pt>
    <dgm:pt modelId="{58D9F46E-7DE0-49AA-9CB0-B899F4C63BD1}" type="pres">
      <dgm:prSet presAssocID="{2725A461-0DF2-44A8-9F78-04F149E17F11}" presName="iconRect" presStyleLbl="node1" presStyleIdx="3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FDDC5F53-867C-4C7A-B4FB-C39748F36378}" type="pres">
      <dgm:prSet presAssocID="{2725A461-0DF2-44A8-9F78-04F149E17F11}" presName="spaceRect" presStyleCnt="0"/>
      <dgm:spPr/>
    </dgm:pt>
    <dgm:pt modelId="{068C4FA0-9FEF-466D-8F15-8412BE9C96DC}" type="pres">
      <dgm:prSet presAssocID="{2725A461-0DF2-44A8-9F78-04F149E17F11}" presName="parTx" presStyleLbl="revTx" presStyleIdx="3" presStyleCnt="5">
        <dgm:presLayoutVars>
          <dgm:chMax val="0"/>
          <dgm:chPref val="0"/>
        </dgm:presLayoutVars>
      </dgm:prSet>
      <dgm:spPr/>
    </dgm:pt>
    <dgm:pt modelId="{A2DF316B-07B7-4202-9838-477289E27C01}" type="pres">
      <dgm:prSet presAssocID="{53AA2F43-D830-4D61-9E97-81E665215D5B}" presName="sibTrans" presStyleCnt="0"/>
      <dgm:spPr/>
    </dgm:pt>
    <dgm:pt modelId="{991C68DC-C431-4088-AD14-AEA644EB418A}" type="pres">
      <dgm:prSet presAssocID="{02642AEA-9BFC-443E-948A-D6C307238697}" presName="compNode" presStyleCnt="0"/>
      <dgm:spPr/>
    </dgm:pt>
    <dgm:pt modelId="{DE50077F-F68E-4EA0-9E1D-C340366DCAB2}" type="pres">
      <dgm:prSet presAssocID="{02642AEA-9BFC-443E-948A-D6C307238697}" presName="bgRect" presStyleLbl="bgShp" presStyleIdx="4" presStyleCnt="5"/>
      <dgm:spPr/>
    </dgm:pt>
    <dgm:pt modelId="{FE0C1022-85E8-4E2E-A552-512F7E251825}" type="pres">
      <dgm:prSet presAssocID="{02642AEA-9BFC-443E-948A-D6C307238697}" presName="iconRect" presStyleLbl="node1" presStyleIdx="4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1B88246-0993-4DF9-9FB3-F7027C364646}" type="pres">
      <dgm:prSet presAssocID="{02642AEA-9BFC-443E-948A-D6C307238697}" presName="spaceRect" presStyleCnt="0"/>
      <dgm:spPr/>
    </dgm:pt>
    <dgm:pt modelId="{34338876-DFFA-42F4-869B-E1316F48BF9A}" type="pres">
      <dgm:prSet presAssocID="{02642AEA-9BFC-443E-948A-D6C30723869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C27D618-F9C6-41A0-9CDE-B8736835595C}" srcId="{D27D3212-3521-48B6-BD9D-55C515EF5223}" destId="{02642AEA-9BFC-443E-948A-D6C307238697}" srcOrd="4" destOrd="0" parTransId="{D9B0B4A2-0CEC-4A90-BFCF-6498D889063A}" sibTransId="{95C44A03-A769-4CF1-BD44-BD4485D94C6E}"/>
    <dgm:cxn modelId="{1DD6331D-56F0-4172-8DEB-DADDF7185752}" type="presOf" srcId="{2725A461-0DF2-44A8-9F78-04F149E17F11}" destId="{068C4FA0-9FEF-466D-8F15-8412BE9C96DC}" srcOrd="0" destOrd="0" presId="urn:microsoft.com/office/officeart/2018/2/layout/IconVerticalSolidList"/>
    <dgm:cxn modelId="{4F6C3F3A-A7AD-471A-BC3B-AF9913A75355}" type="presOf" srcId="{05AE3D50-B7F1-488E-995F-AE8BF1B78453}" destId="{CC76694A-1858-4D02-86A4-B72D83EE8770}" srcOrd="0" destOrd="0" presId="urn:microsoft.com/office/officeart/2018/2/layout/IconVerticalSolidList"/>
    <dgm:cxn modelId="{7471F540-B294-4D0F-BBB7-FD4E19ADA867}" srcId="{D27D3212-3521-48B6-BD9D-55C515EF5223}" destId="{FE944E92-B19E-450C-BCC7-A17F011DF3CF}" srcOrd="2" destOrd="0" parTransId="{2289CB34-743F-457B-8CEC-E2C00503CECB}" sibTransId="{7965B9C1-449A-4FF1-B5DD-4D9FBDF9CF2A}"/>
    <dgm:cxn modelId="{88DE7373-DD15-44CA-BAEA-40731CC6C0A3}" type="presOf" srcId="{D27D3212-3521-48B6-BD9D-55C515EF5223}" destId="{94E40A43-6B46-4C83-9418-1C7F92D3A0A4}" srcOrd="0" destOrd="0" presId="urn:microsoft.com/office/officeart/2018/2/layout/IconVerticalSolidList"/>
    <dgm:cxn modelId="{CCE4AF9F-050C-45EB-A0A0-D9608A56F171}" type="presOf" srcId="{FE944E92-B19E-450C-BCC7-A17F011DF3CF}" destId="{3D133EB5-63A1-4297-B573-F28EE5DD3298}" srcOrd="0" destOrd="0" presId="urn:microsoft.com/office/officeart/2018/2/layout/IconVerticalSolidList"/>
    <dgm:cxn modelId="{760FCDA4-BC3F-4607-9D5A-985C7B885584}" type="presOf" srcId="{739BF1D8-AE5B-48FF-8D6D-F63D7FD6D365}" destId="{9920F418-4EA7-4B49-98FA-FF0FDE9E10B9}" srcOrd="0" destOrd="0" presId="urn:microsoft.com/office/officeart/2018/2/layout/IconVerticalSolidList"/>
    <dgm:cxn modelId="{2FAF84A6-5A07-4029-9B82-FEC8F72BCA42}" srcId="{D27D3212-3521-48B6-BD9D-55C515EF5223}" destId="{739BF1D8-AE5B-48FF-8D6D-F63D7FD6D365}" srcOrd="1" destOrd="0" parTransId="{FB7D6B0C-4BDE-4EBA-81C2-56EF2C7D376A}" sibTransId="{74A04EA8-D3BA-45AE-B026-99D4665FCC54}"/>
    <dgm:cxn modelId="{EC64BED1-5A36-4A64-AB35-B0B452805A26}" type="presOf" srcId="{02642AEA-9BFC-443E-948A-D6C307238697}" destId="{34338876-DFFA-42F4-869B-E1316F48BF9A}" srcOrd="0" destOrd="0" presId="urn:microsoft.com/office/officeart/2018/2/layout/IconVerticalSolidList"/>
    <dgm:cxn modelId="{0E2F04DC-0A21-42DA-8286-8665F97D2780}" srcId="{D27D3212-3521-48B6-BD9D-55C515EF5223}" destId="{2725A461-0DF2-44A8-9F78-04F149E17F11}" srcOrd="3" destOrd="0" parTransId="{AFCE202A-414D-4EF0-9435-6CC693EE0F9A}" sibTransId="{53AA2F43-D830-4D61-9E97-81E665215D5B}"/>
    <dgm:cxn modelId="{2C359EE4-31E2-4D38-9C11-A28BD4B1B766}" srcId="{D27D3212-3521-48B6-BD9D-55C515EF5223}" destId="{05AE3D50-B7F1-488E-995F-AE8BF1B78453}" srcOrd="0" destOrd="0" parTransId="{27554CD7-4BF1-44ED-AC03-28A68315955D}" sibTransId="{0DBF1E83-156E-45DC-9A3A-AEDA854ED5CC}"/>
    <dgm:cxn modelId="{181CDA12-4DCB-44CB-84BE-12BF89267B70}" type="presParOf" srcId="{94E40A43-6B46-4C83-9418-1C7F92D3A0A4}" destId="{BCFF94AC-D31E-4930-B799-8C877C5F62D0}" srcOrd="0" destOrd="0" presId="urn:microsoft.com/office/officeart/2018/2/layout/IconVerticalSolidList"/>
    <dgm:cxn modelId="{64B4B551-5B7D-4518-BC8C-9A64666C0AF2}" type="presParOf" srcId="{BCFF94AC-D31E-4930-B799-8C877C5F62D0}" destId="{206DC26D-CC24-49BA-9FB5-C8BE55346538}" srcOrd="0" destOrd="0" presId="urn:microsoft.com/office/officeart/2018/2/layout/IconVerticalSolidList"/>
    <dgm:cxn modelId="{22D5D832-8ED7-4693-AF73-157FB55B1810}" type="presParOf" srcId="{BCFF94AC-D31E-4930-B799-8C877C5F62D0}" destId="{AFB8CE9B-8D55-4AD4-8F1A-F4130E38C520}" srcOrd="1" destOrd="0" presId="urn:microsoft.com/office/officeart/2018/2/layout/IconVerticalSolidList"/>
    <dgm:cxn modelId="{F45B0042-D9B7-47AF-B021-A39DF0891972}" type="presParOf" srcId="{BCFF94AC-D31E-4930-B799-8C877C5F62D0}" destId="{7302CA8D-949E-4F5B-877C-263FBB5F6643}" srcOrd="2" destOrd="0" presId="urn:microsoft.com/office/officeart/2018/2/layout/IconVerticalSolidList"/>
    <dgm:cxn modelId="{6A1BF955-F07A-48FD-8D06-B147D1BFDA75}" type="presParOf" srcId="{BCFF94AC-D31E-4930-B799-8C877C5F62D0}" destId="{CC76694A-1858-4D02-86A4-B72D83EE8770}" srcOrd="3" destOrd="0" presId="urn:microsoft.com/office/officeart/2018/2/layout/IconVerticalSolidList"/>
    <dgm:cxn modelId="{C8E729B6-DA92-43ED-BBA2-DDD76A50FD7C}" type="presParOf" srcId="{94E40A43-6B46-4C83-9418-1C7F92D3A0A4}" destId="{CCBDC4A1-4812-420F-9753-9BC4CFE12D3F}" srcOrd="1" destOrd="0" presId="urn:microsoft.com/office/officeart/2018/2/layout/IconVerticalSolidList"/>
    <dgm:cxn modelId="{9B11C5C3-C524-4C83-ABD4-2DE8CCD77C88}" type="presParOf" srcId="{94E40A43-6B46-4C83-9418-1C7F92D3A0A4}" destId="{80794BD3-3894-403E-9B0D-1D0DD0294167}" srcOrd="2" destOrd="0" presId="urn:microsoft.com/office/officeart/2018/2/layout/IconVerticalSolidList"/>
    <dgm:cxn modelId="{D6BB9F09-8269-45DF-BD98-3A4EF39807F0}" type="presParOf" srcId="{80794BD3-3894-403E-9B0D-1D0DD0294167}" destId="{6713660B-2A05-40B9-AB3B-82CB210B8F85}" srcOrd="0" destOrd="0" presId="urn:microsoft.com/office/officeart/2018/2/layout/IconVerticalSolidList"/>
    <dgm:cxn modelId="{950A94C1-6287-47F8-BB09-B03B32CD0548}" type="presParOf" srcId="{80794BD3-3894-403E-9B0D-1D0DD0294167}" destId="{DB30A511-2C72-406B-A21F-9E6E620FDBB9}" srcOrd="1" destOrd="0" presId="urn:microsoft.com/office/officeart/2018/2/layout/IconVerticalSolidList"/>
    <dgm:cxn modelId="{D3995D76-900A-4C37-B2B5-4FA77FA9127B}" type="presParOf" srcId="{80794BD3-3894-403E-9B0D-1D0DD0294167}" destId="{3D562CD2-8482-47CF-ACCC-4C6FA726B48C}" srcOrd="2" destOrd="0" presId="urn:microsoft.com/office/officeart/2018/2/layout/IconVerticalSolidList"/>
    <dgm:cxn modelId="{2A1FCA45-1534-4724-8F5C-1ECDB5F5852C}" type="presParOf" srcId="{80794BD3-3894-403E-9B0D-1D0DD0294167}" destId="{9920F418-4EA7-4B49-98FA-FF0FDE9E10B9}" srcOrd="3" destOrd="0" presId="urn:microsoft.com/office/officeart/2018/2/layout/IconVerticalSolidList"/>
    <dgm:cxn modelId="{92A367B9-AB3D-4144-B6AD-D348D703EE0E}" type="presParOf" srcId="{94E40A43-6B46-4C83-9418-1C7F92D3A0A4}" destId="{EDC67E77-8290-4D61-B73E-D185E4227579}" srcOrd="3" destOrd="0" presId="urn:microsoft.com/office/officeart/2018/2/layout/IconVerticalSolidList"/>
    <dgm:cxn modelId="{930B0378-603D-437F-85BA-317084681393}" type="presParOf" srcId="{94E40A43-6B46-4C83-9418-1C7F92D3A0A4}" destId="{080F13C5-5CA6-4749-91F7-90D6EAF6CB34}" srcOrd="4" destOrd="0" presId="urn:microsoft.com/office/officeart/2018/2/layout/IconVerticalSolidList"/>
    <dgm:cxn modelId="{AC74401A-07FB-461E-9F77-CA06D6967958}" type="presParOf" srcId="{080F13C5-5CA6-4749-91F7-90D6EAF6CB34}" destId="{AFCE8ACC-02C2-4DF7-8BF1-0260227438B3}" srcOrd="0" destOrd="0" presId="urn:microsoft.com/office/officeart/2018/2/layout/IconVerticalSolidList"/>
    <dgm:cxn modelId="{7A42EE18-79EA-4BDA-A831-688770B6C0EA}" type="presParOf" srcId="{080F13C5-5CA6-4749-91F7-90D6EAF6CB34}" destId="{0622A4F5-16F7-4236-B8A4-7FD886718759}" srcOrd="1" destOrd="0" presId="urn:microsoft.com/office/officeart/2018/2/layout/IconVerticalSolidList"/>
    <dgm:cxn modelId="{7BE5E1C8-482A-443B-ABA0-69FA7569911F}" type="presParOf" srcId="{080F13C5-5CA6-4749-91F7-90D6EAF6CB34}" destId="{9969C2C6-E6B4-4D0B-8A63-5C38ED2ED4D8}" srcOrd="2" destOrd="0" presId="urn:microsoft.com/office/officeart/2018/2/layout/IconVerticalSolidList"/>
    <dgm:cxn modelId="{6B209C11-18BF-420C-83B8-2BDE986A90E8}" type="presParOf" srcId="{080F13C5-5CA6-4749-91F7-90D6EAF6CB34}" destId="{3D133EB5-63A1-4297-B573-F28EE5DD3298}" srcOrd="3" destOrd="0" presId="urn:microsoft.com/office/officeart/2018/2/layout/IconVerticalSolidList"/>
    <dgm:cxn modelId="{2FA54224-5DB6-4865-84E4-B6637B88B3EA}" type="presParOf" srcId="{94E40A43-6B46-4C83-9418-1C7F92D3A0A4}" destId="{0304A61A-2B78-4C83-BDC2-14ABC39CFFA5}" srcOrd="5" destOrd="0" presId="urn:microsoft.com/office/officeart/2018/2/layout/IconVerticalSolidList"/>
    <dgm:cxn modelId="{8027F1B1-5C70-4C2D-A9FE-C553EE892732}" type="presParOf" srcId="{94E40A43-6B46-4C83-9418-1C7F92D3A0A4}" destId="{D02144F2-8AF1-45F9-BE14-6CE14AF0CE69}" srcOrd="6" destOrd="0" presId="urn:microsoft.com/office/officeart/2018/2/layout/IconVerticalSolidList"/>
    <dgm:cxn modelId="{3F288792-6EB2-4F57-B936-07258786069F}" type="presParOf" srcId="{D02144F2-8AF1-45F9-BE14-6CE14AF0CE69}" destId="{7753223C-7EDE-4C06-A3CB-B2EBC7CACA47}" srcOrd="0" destOrd="0" presId="urn:microsoft.com/office/officeart/2018/2/layout/IconVerticalSolidList"/>
    <dgm:cxn modelId="{D8198C2F-7277-45A3-9FA8-8CCDF75BD0B4}" type="presParOf" srcId="{D02144F2-8AF1-45F9-BE14-6CE14AF0CE69}" destId="{58D9F46E-7DE0-49AA-9CB0-B899F4C63BD1}" srcOrd="1" destOrd="0" presId="urn:microsoft.com/office/officeart/2018/2/layout/IconVerticalSolidList"/>
    <dgm:cxn modelId="{9D28FF3F-33AD-4A91-A42A-2F1FD00142E6}" type="presParOf" srcId="{D02144F2-8AF1-45F9-BE14-6CE14AF0CE69}" destId="{FDDC5F53-867C-4C7A-B4FB-C39748F36378}" srcOrd="2" destOrd="0" presId="urn:microsoft.com/office/officeart/2018/2/layout/IconVerticalSolidList"/>
    <dgm:cxn modelId="{ED229D09-4CA3-43D5-A480-1071865CAAA5}" type="presParOf" srcId="{D02144F2-8AF1-45F9-BE14-6CE14AF0CE69}" destId="{068C4FA0-9FEF-466D-8F15-8412BE9C96DC}" srcOrd="3" destOrd="0" presId="urn:microsoft.com/office/officeart/2018/2/layout/IconVerticalSolidList"/>
    <dgm:cxn modelId="{644F922C-ABEE-40F7-924A-90C31E394A59}" type="presParOf" srcId="{94E40A43-6B46-4C83-9418-1C7F92D3A0A4}" destId="{A2DF316B-07B7-4202-9838-477289E27C01}" srcOrd="7" destOrd="0" presId="urn:microsoft.com/office/officeart/2018/2/layout/IconVerticalSolidList"/>
    <dgm:cxn modelId="{786E7786-62E8-411C-ADAA-EECD8D190C1A}" type="presParOf" srcId="{94E40A43-6B46-4C83-9418-1C7F92D3A0A4}" destId="{991C68DC-C431-4088-AD14-AEA644EB418A}" srcOrd="8" destOrd="0" presId="urn:microsoft.com/office/officeart/2018/2/layout/IconVerticalSolidList"/>
    <dgm:cxn modelId="{DA9112CF-AF91-49D5-8582-0BB0F9995037}" type="presParOf" srcId="{991C68DC-C431-4088-AD14-AEA644EB418A}" destId="{DE50077F-F68E-4EA0-9E1D-C340366DCAB2}" srcOrd="0" destOrd="0" presId="urn:microsoft.com/office/officeart/2018/2/layout/IconVerticalSolidList"/>
    <dgm:cxn modelId="{FD88B06D-4465-4A56-97CD-C65F2CF1F6F4}" type="presParOf" srcId="{991C68DC-C431-4088-AD14-AEA644EB418A}" destId="{FE0C1022-85E8-4E2E-A552-512F7E251825}" srcOrd="1" destOrd="0" presId="urn:microsoft.com/office/officeart/2018/2/layout/IconVerticalSolidList"/>
    <dgm:cxn modelId="{EE851D67-E804-4453-8B6D-7C4C43AC856F}" type="presParOf" srcId="{991C68DC-C431-4088-AD14-AEA644EB418A}" destId="{E1B88246-0993-4DF9-9FB3-F7027C364646}" srcOrd="2" destOrd="0" presId="urn:microsoft.com/office/officeart/2018/2/layout/IconVerticalSolidList"/>
    <dgm:cxn modelId="{613A51AE-3AC0-4876-BA3B-0208D83A4D01}" type="presParOf" srcId="{991C68DC-C431-4088-AD14-AEA644EB418A}" destId="{34338876-DFFA-42F4-869B-E1316F48BF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84A1EB-6549-456B-928C-E82F2A81139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5CAF92-A606-437F-A7CD-A3CAF5A36AED}">
      <dgm:prSet/>
      <dgm:spPr/>
      <dgm:t>
        <a:bodyPr/>
        <a:lstStyle/>
        <a:p>
          <a:r>
            <a:rPr lang="en-US"/>
            <a:t>A BERT-based binary classifier fine-tuned to detect whether a job posting is fake or real. </a:t>
          </a:r>
        </a:p>
      </dgm:t>
    </dgm:pt>
    <dgm:pt modelId="{FCD107FB-49DB-4D7B-AD60-04FC7FA570B9}" type="parTrans" cxnId="{3F43AD76-8059-45C5-B196-0B981E8762EC}">
      <dgm:prSet/>
      <dgm:spPr/>
      <dgm:t>
        <a:bodyPr/>
        <a:lstStyle/>
        <a:p>
          <a:endParaRPr lang="en-US"/>
        </a:p>
      </dgm:t>
    </dgm:pt>
    <dgm:pt modelId="{1C82A86D-6B1B-403E-86D7-8310CFB34926}" type="sibTrans" cxnId="{3F43AD76-8059-45C5-B196-0B981E8762EC}">
      <dgm:prSet/>
      <dgm:spPr/>
      <dgm:t>
        <a:bodyPr/>
        <a:lstStyle/>
        <a:p>
          <a:endParaRPr lang="en-US"/>
        </a:p>
      </dgm:t>
    </dgm:pt>
    <dgm:pt modelId="{12679CC3-CE72-4BE1-BBD1-10DF7032743F}">
      <dgm:prSet/>
      <dgm:spPr/>
      <dgm:t>
        <a:bodyPr/>
        <a:lstStyle/>
        <a:p>
          <a:r>
            <a:rPr lang="en-US"/>
            <a:t>Built on top of bert-base-uncased as the backbone model. </a:t>
          </a:r>
        </a:p>
      </dgm:t>
    </dgm:pt>
    <dgm:pt modelId="{5174AE59-0E89-4DD9-9AA5-89CFB11D4911}" type="parTrans" cxnId="{E483D400-B07B-4358-A064-38811520D02D}">
      <dgm:prSet/>
      <dgm:spPr/>
      <dgm:t>
        <a:bodyPr/>
        <a:lstStyle/>
        <a:p>
          <a:endParaRPr lang="en-US"/>
        </a:p>
      </dgm:t>
    </dgm:pt>
    <dgm:pt modelId="{500BCFDE-039F-4827-8AF0-9B4836997143}" type="sibTrans" cxnId="{E483D400-B07B-4358-A064-38811520D02D}">
      <dgm:prSet/>
      <dgm:spPr/>
      <dgm:t>
        <a:bodyPr/>
        <a:lstStyle/>
        <a:p>
          <a:endParaRPr lang="en-US"/>
        </a:p>
      </dgm:t>
    </dgm:pt>
    <dgm:pt modelId="{C56EAA11-F44D-4A7C-B98C-89BFA1D207BB}">
      <dgm:prSet/>
      <dgm:spPr/>
      <dgm:t>
        <a:bodyPr/>
        <a:lstStyle/>
        <a:p>
          <a:r>
            <a:rPr lang="en-US"/>
            <a:t>Lightweight and usable on both CPU and GPU for inference</a:t>
          </a:r>
        </a:p>
      </dgm:t>
    </dgm:pt>
    <dgm:pt modelId="{17B76050-EE95-4270-9CEC-111123BDDBC1}" type="parTrans" cxnId="{DC2CB042-8BCF-425E-B4BC-3F472903A840}">
      <dgm:prSet/>
      <dgm:spPr/>
      <dgm:t>
        <a:bodyPr/>
        <a:lstStyle/>
        <a:p>
          <a:endParaRPr lang="en-US"/>
        </a:p>
      </dgm:t>
    </dgm:pt>
    <dgm:pt modelId="{E112D9D3-1FE7-4E76-B15B-68A5B4ADF111}" type="sibTrans" cxnId="{DC2CB042-8BCF-425E-B4BC-3F472903A840}">
      <dgm:prSet/>
      <dgm:spPr/>
      <dgm:t>
        <a:bodyPr/>
        <a:lstStyle/>
        <a:p>
          <a:endParaRPr lang="en-US"/>
        </a:p>
      </dgm:t>
    </dgm:pt>
    <dgm:pt modelId="{84E2549A-B0E8-48E7-93D0-B2E194124B22}">
      <dgm:prSet/>
      <dgm:spPr/>
      <dgm:t>
        <a:bodyPr/>
        <a:lstStyle/>
        <a:p>
          <a:r>
            <a:rPr lang="en-US" b="1"/>
            <a:t>Accuracy</a:t>
          </a:r>
          <a:r>
            <a:rPr lang="en-US"/>
            <a:t>: 0.97 on the held-out test set</a:t>
          </a:r>
        </a:p>
      </dgm:t>
    </dgm:pt>
    <dgm:pt modelId="{4217308E-A873-4678-8E68-E65EB42D059E}" type="parTrans" cxnId="{9B969326-CF2F-489D-99A6-3EC77ECD4079}">
      <dgm:prSet/>
      <dgm:spPr/>
      <dgm:t>
        <a:bodyPr/>
        <a:lstStyle/>
        <a:p>
          <a:endParaRPr lang="en-US"/>
        </a:p>
      </dgm:t>
    </dgm:pt>
    <dgm:pt modelId="{BC22A0E4-1A4E-4A86-BB42-7F0F4F51CED9}" type="sibTrans" cxnId="{9B969326-CF2F-489D-99A6-3EC77ECD4079}">
      <dgm:prSet/>
      <dgm:spPr/>
      <dgm:t>
        <a:bodyPr/>
        <a:lstStyle/>
        <a:p>
          <a:endParaRPr lang="en-US"/>
        </a:p>
      </dgm:t>
    </dgm:pt>
    <dgm:pt modelId="{4A9F003A-5808-4552-90C4-33FBDB23DE2B}">
      <dgm:prSet/>
      <dgm:spPr/>
      <dgm:t>
        <a:bodyPr/>
        <a:lstStyle/>
        <a:p>
          <a:r>
            <a:rPr lang="en-US" b="1"/>
            <a:t>Precision</a:t>
          </a:r>
          <a:r>
            <a:rPr lang="en-US"/>
            <a:t>: ≈ 0.81</a:t>
          </a:r>
        </a:p>
      </dgm:t>
    </dgm:pt>
    <dgm:pt modelId="{8C6ED38B-1041-4B3D-B39E-FD293D530E44}" type="parTrans" cxnId="{6B1AE174-C875-48B7-85F4-1A23C9FFB410}">
      <dgm:prSet/>
      <dgm:spPr/>
      <dgm:t>
        <a:bodyPr/>
        <a:lstStyle/>
        <a:p>
          <a:endParaRPr lang="en-US"/>
        </a:p>
      </dgm:t>
    </dgm:pt>
    <dgm:pt modelId="{F0434955-7A5A-48F4-9960-15A9294EAE0A}" type="sibTrans" cxnId="{6B1AE174-C875-48B7-85F4-1A23C9FFB410}">
      <dgm:prSet/>
      <dgm:spPr/>
      <dgm:t>
        <a:bodyPr/>
        <a:lstStyle/>
        <a:p>
          <a:endParaRPr lang="en-US"/>
        </a:p>
      </dgm:t>
    </dgm:pt>
    <dgm:pt modelId="{1086E396-B83F-4F44-8F61-E803E8AD80AF}">
      <dgm:prSet/>
      <dgm:spPr/>
      <dgm:t>
        <a:bodyPr/>
        <a:lstStyle/>
        <a:p>
          <a:r>
            <a:rPr lang="en-US"/>
            <a:t>Dataset :- Combination Of Multiple custom Dataset </a:t>
          </a:r>
        </a:p>
      </dgm:t>
    </dgm:pt>
    <dgm:pt modelId="{147A4C76-9701-4446-946B-EFBA800B5C1C}" type="parTrans" cxnId="{657E7472-7622-419C-98FF-A74A56D11F37}">
      <dgm:prSet/>
      <dgm:spPr/>
      <dgm:t>
        <a:bodyPr/>
        <a:lstStyle/>
        <a:p>
          <a:endParaRPr lang="en-US"/>
        </a:p>
      </dgm:t>
    </dgm:pt>
    <dgm:pt modelId="{8303FC7F-DCF0-425E-9786-54406B847B2F}" type="sibTrans" cxnId="{657E7472-7622-419C-98FF-A74A56D11F37}">
      <dgm:prSet/>
      <dgm:spPr/>
      <dgm:t>
        <a:bodyPr/>
        <a:lstStyle/>
        <a:p>
          <a:endParaRPr lang="en-US"/>
        </a:p>
      </dgm:t>
    </dgm:pt>
    <dgm:pt modelId="{F5F99788-0BDB-403B-9EE8-D935C9BE5054}">
      <dgm:prSet/>
      <dgm:spPr/>
      <dgm:t>
        <a:bodyPr/>
        <a:lstStyle/>
        <a:p>
          <a:r>
            <a:rPr lang="en-US" b="1"/>
            <a:t>Epochs :- </a:t>
          </a:r>
          <a:r>
            <a:rPr lang="en-US"/>
            <a:t>3 </a:t>
          </a:r>
        </a:p>
      </dgm:t>
    </dgm:pt>
    <dgm:pt modelId="{F5B3A4BA-3EB1-4F1C-8FCA-3792D16ED9B1}" type="parTrans" cxnId="{C0396508-509F-49A9-956C-C03C28EFF998}">
      <dgm:prSet/>
      <dgm:spPr/>
      <dgm:t>
        <a:bodyPr/>
        <a:lstStyle/>
        <a:p>
          <a:endParaRPr lang="en-US"/>
        </a:p>
      </dgm:t>
    </dgm:pt>
    <dgm:pt modelId="{275F0903-C866-4679-BEE3-9BC32CA0B0B6}" type="sibTrans" cxnId="{C0396508-509F-49A9-956C-C03C28EFF998}">
      <dgm:prSet/>
      <dgm:spPr/>
      <dgm:t>
        <a:bodyPr/>
        <a:lstStyle/>
        <a:p>
          <a:endParaRPr lang="en-US"/>
        </a:p>
      </dgm:t>
    </dgm:pt>
    <dgm:pt modelId="{FDA6E48E-0C4D-4192-ADED-70C7F7A5479D}">
      <dgm:prSet/>
      <dgm:spPr/>
      <dgm:t>
        <a:bodyPr/>
        <a:lstStyle/>
        <a:p>
          <a:r>
            <a:rPr lang="en-US" b="1"/>
            <a:t>Batch size:- 16</a:t>
          </a:r>
          <a:endParaRPr lang="en-US"/>
        </a:p>
      </dgm:t>
    </dgm:pt>
    <dgm:pt modelId="{F243DC92-B8E0-4EEE-9658-09EC8F2BDAFF}" type="parTrans" cxnId="{65A40F2B-6A3B-43FA-8B19-7697BEC5DB84}">
      <dgm:prSet/>
      <dgm:spPr/>
      <dgm:t>
        <a:bodyPr/>
        <a:lstStyle/>
        <a:p>
          <a:endParaRPr lang="en-US"/>
        </a:p>
      </dgm:t>
    </dgm:pt>
    <dgm:pt modelId="{FE9E5455-F285-4F39-9622-2D574E197B9A}" type="sibTrans" cxnId="{65A40F2B-6A3B-43FA-8B19-7697BEC5DB84}">
      <dgm:prSet/>
      <dgm:spPr/>
      <dgm:t>
        <a:bodyPr/>
        <a:lstStyle/>
        <a:p>
          <a:endParaRPr lang="en-US"/>
        </a:p>
      </dgm:t>
    </dgm:pt>
    <dgm:pt modelId="{6DD6A3F6-9EBF-4C75-8A8F-ECB3B7C2AADB}">
      <dgm:prSet/>
      <dgm:spPr/>
      <dgm:t>
        <a:bodyPr/>
        <a:lstStyle/>
        <a:p>
          <a:r>
            <a:rPr lang="en-US" b="1"/>
            <a:t>Maximum token length :-</a:t>
          </a:r>
          <a:r>
            <a:rPr lang="en-US"/>
            <a:t>128 tokens (longer inputs truncated) </a:t>
          </a:r>
        </a:p>
      </dgm:t>
    </dgm:pt>
    <dgm:pt modelId="{A14A47F8-7685-4DC0-BB3B-ABDA23983EEA}" type="parTrans" cxnId="{776BCCC4-1C91-4722-8574-8A0DE9FB8A10}">
      <dgm:prSet/>
      <dgm:spPr/>
      <dgm:t>
        <a:bodyPr/>
        <a:lstStyle/>
        <a:p>
          <a:endParaRPr lang="en-US"/>
        </a:p>
      </dgm:t>
    </dgm:pt>
    <dgm:pt modelId="{DAE950D4-CC6F-4AE1-B6A7-ED932F97F586}" type="sibTrans" cxnId="{776BCCC4-1C91-4722-8574-8A0DE9FB8A10}">
      <dgm:prSet/>
      <dgm:spPr/>
      <dgm:t>
        <a:bodyPr/>
        <a:lstStyle/>
        <a:p>
          <a:endParaRPr lang="en-US"/>
        </a:p>
      </dgm:t>
    </dgm:pt>
    <dgm:pt modelId="{0E3698AC-29FA-DB46-89CF-5BBFEE7C2F54}" type="pres">
      <dgm:prSet presAssocID="{3A84A1EB-6549-456B-928C-E82F2A81139D}" presName="linear" presStyleCnt="0">
        <dgm:presLayoutVars>
          <dgm:animLvl val="lvl"/>
          <dgm:resizeHandles val="exact"/>
        </dgm:presLayoutVars>
      </dgm:prSet>
      <dgm:spPr/>
    </dgm:pt>
    <dgm:pt modelId="{85278BFF-7876-214D-A1E0-B30192C37094}" type="pres">
      <dgm:prSet presAssocID="{F95CAF92-A606-437F-A7CD-A3CAF5A36AED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6EA0B865-CAD9-774D-B657-540343C2A483}" type="pres">
      <dgm:prSet presAssocID="{1C82A86D-6B1B-403E-86D7-8310CFB34926}" presName="spacer" presStyleCnt="0"/>
      <dgm:spPr/>
    </dgm:pt>
    <dgm:pt modelId="{6DCFA455-BFA2-DB4E-A904-6F80715876B1}" type="pres">
      <dgm:prSet presAssocID="{12679CC3-CE72-4BE1-BBD1-10DF7032743F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1FE610CA-F07E-EE41-B8BE-831D0E8FDB51}" type="pres">
      <dgm:prSet presAssocID="{500BCFDE-039F-4827-8AF0-9B4836997143}" presName="spacer" presStyleCnt="0"/>
      <dgm:spPr/>
    </dgm:pt>
    <dgm:pt modelId="{6CA81E2F-B2A4-3B4A-A0C3-352FF153896B}" type="pres">
      <dgm:prSet presAssocID="{C56EAA11-F44D-4A7C-B98C-89BFA1D207BB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27DA7F03-17A0-9844-88C1-22EAC7517E13}" type="pres">
      <dgm:prSet presAssocID="{E112D9D3-1FE7-4E76-B15B-68A5B4ADF111}" presName="spacer" presStyleCnt="0"/>
      <dgm:spPr/>
    </dgm:pt>
    <dgm:pt modelId="{93E01AA5-2628-324B-9A63-53697C6F31A3}" type="pres">
      <dgm:prSet presAssocID="{84E2549A-B0E8-48E7-93D0-B2E194124B22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531C5BF0-4282-CB42-B853-6B3A5725B90C}" type="pres">
      <dgm:prSet presAssocID="{BC22A0E4-1A4E-4A86-BB42-7F0F4F51CED9}" presName="spacer" presStyleCnt="0"/>
      <dgm:spPr/>
    </dgm:pt>
    <dgm:pt modelId="{A3624FD2-D44D-EE4E-BB14-EA88A18F4138}" type="pres">
      <dgm:prSet presAssocID="{4A9F003A-5808-4552-90C4-33FBDB23DE2B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369C7D31-883D-1041-8F5A-2BAFDAAA487F}" type="pres">
      <dgm:prSet presAssocID="{F0434955-7A5A-48F4-9960-15A9294EAE0A}" presName="spacer" presStyleCnt="0"/>
      <dgm:spPr/>
    </dgm:pt>
    <dgm:pt modelId="{22F481A0-98B0-FA48-B7E8-0E0B77885728}" type="pres">
      <dgm:prSet presAssocID="{1086E396-B83F-4F44-8F61-E803E8AD80AF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32A326FB-B378-4641-81FE-3CC243149F40}" type="pres">
      <dgm:prSet presAssocID="{8303FC7F-DCF0-425E-9786-54406B847B2F}" presName="spacer" presStyleCnt="0"/>
      <dgm:spPr/>
    </dgm:pt>
    <dgm:pt modelId="{C12D7F7A-D6C8-934D-8C19-CF998FE1F5C3}" type="pres">
      <dgm:prSet presAssocID="{F5F99788-0BDB-403B-9EE8-D935C9BE5054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ACF8CD08-0471-4F4B-AB21-EE5E683FB47A}" type="pres">
      <dgm:prSet presAssocID="{275F0903-C866-4679-BEE3-9BC32CA0B0B6}" presName="spacer" presStyleCnt="0"/>
      <dgm:spPr/>
    </dgm:pt>
    <dgm:pt modelId="{A7F5B7D7-A307-0940-9FC0-5449BE6AF107}" type="pres">
      <dgm:prSet presAssocID="{FDA6E48E-0C4D-4192-ADED-70C7F7A5479D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3A227138-638B-2D45-AF65-32E2B397061A}" type="pres">
      <dgm:prSet presAssocID="{FE9E5455-F285-4F39-9622-2D574E197B9A}" presName="spacer" presStyleCnt="0"/>
      <dgm:spPr/>
    </dgm:pt>
    <dgm:pt modelId="{CC4C1734-57F7-904F-A273-4DD6705518CA}" type="pres">
      <dgm:prSet presAssocID="{6DD6A3F6-9EBF-4C75-8A8F-ECB3B7C2AADB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E483D400-B07B-4358-A064-38811520D02D}" srcId="{3A84A1EB-6549-456B-928C-E82F2A81139D}" destId="{12679CC3-CE72-4BE1-BBD1-10DF7032743F}" srcOrd="1" destOrd="0" parTransId="{5174AE59-0E89-4DD9-9AA5-89CFB11D4911}" sibTransId="{500BCFDE-039F-4827-8AF0-9B4836997143}"/>
    <dgm:cxn modelId="{C0396508-509F-49A9-956C-C03C28EFF998}" srcId="{3A84A1EB-6549-456B-928C-E82F2A81139D}" destId="{F5F99788-0BDB-403B-9EE8-D935C9BE5054}" srcOrd="6" destOrd="0" parTransId="{F5B3A4BA-3EB1-4F1C-8FCA-3792D16ED9B1}" sibTransId="{275F0903-C866-4679-BEE3-9BC32CA0B0B6}"/>
    <dgm:cxn modelId="{673E8C23-F03D-2346-A031-93478AC4030A}" type="presOf" srcId="{3A84A1EB-6549-456B-928C-E82F2A81139D}" destId="{0E3698AC-29FA-DB46-89CF-5BBFEE7C2F54}" srcOrd="0" destOrd="0" presId="urn:microsoft.com/office/officeart/2005/8/layout/vList2"/>
    <dgm:cxn modelId="{FDB86924-7C04-A04D-872D-146567246A92}" type="presOf" srcId="{C56EAA11-F44D-4A7C-B98C-89BFA1D207BB}" destId="{6CA81E2F-B2A4-3B4A-A0C3-352FF153896B}" srcOrd="0" destOrd="0" presId="urn:microsoft.com/office/officeart/2005/8/layout/vList2"/>
    <dgm:cxn modelId="{9B969326-CF2F-489D-99A6-3EC77ECD4079}" srcId="{3A84A1EB-6549-456B-928C-E82F2A81139D}" destId="{84E2549A-B0E8-48E7-93D0-B2E194124B22}" srcOrd="3" destOrd="0" parTransId="{4217308E-A873-4678-8E68-E65EB42D059E}" sibTransId="{BC22A0E4-1A4E-4A86-BB42-7F0F4F51CED9}"/>
    <dgm:cxn modelId="{65A40F2B-6A3B-43FA-8B19-7697BEC5DB84}" srcId="{3A84A1EB-6549-456B-928C-E82F2A81139D}" destId="{FDA6E48E-0C4D-4192-ADED-70C7F7A5479D}" srcOrd="7" destOrd="0" parTransId="{F243DC92-B8E0-4EEE-9658-09EC8F2BDAFF}" sibTransId="{FE9E5455-F285-4F39-9622-2D574E197B9A}"/>
    <dgm:cxn modelId="{3F34E037-6C26-EA44-8E1C-F71FA79BCE79}" type="presOf" srcId="{F5F99788-0BDB-403B-9EE8-D935C9BE5054}" destId="{C12D7F7A-D6C8-934D-8C19-CF998FE1F5C3}" srcOrd="0" destOrd="0" presId="urn:microsoft.com/office/officeart/2005/8/layout/vList2"/>
    <dgm:cxn modelId="{DC2CB042-8BCF-425E-B4BC-3F472903A840}" srcId="{3A84A1EB-6549-456B-928C-E82F2A81139D}" destId="{C56EAA11-F44D-4A7C-B98C-89BFA1D207BB}" srcOrd="2" destOrd="0" parTransId="{17B76050-EE95-4270-9CEC-111123BDDBC1}" sibTransId="{E112D9D3-1FE7-4E76-B15B-68A5B4ADF111}"/>
    <dgm:cxn modelId="{E4E7586E-999A-E449-AF38-BD571519F453}" type="presOf" srcId="{F95CAF92-A606-437F-A7CD-A3CAF5A36AED}" destId="{85278BFF-7876-214D-A1E0-B30192C37094}" srcOrd="0" destOrd="0" presId="urn:microsoft.com/office/officeart/2005/8/layout/vList2"/>
    <dgm:cxn modelId="{657E7472-7622-419C-98FF-A74A56D11F37}" srcId="{3A84A1EB-6549-456B-928C-E82F2A81139D}" destId="{1086E396-B83F-4F44-8F61-E803E8AD80AF}" srcOrd="5" destOrd="0" parTransId="{147A4C76-9701-4446-946B-EFBA800B5C1C}" sibTransId="{8303FC7F-DCF0-425E-9786-54406B847B2F}"/>
    <dgm:cxn modelId="{6B1AE174-C875-48B7-85F4-1A23C9FFB410}" srcId="{3A84A1EB-6549-456B-928C-E82F2A81139D}" destId="{4A9F003A-5808-4552-90C4-33FBDB23DE2B}" srcOrd="4" destOrd="0" parTransId="{8C6ED38B-1041-4B3D-B39E-FD293D530E44}" sibTransId="{F0434955-7A5A-48F4-9960-15A9294EAE0A}"/>
    <dgm:cxn modelId="{3F43AD76-8059-45C5-B196-0B981E8762EC}" srcId="{3A84A1EB-6549-456B-928C-E82F2A81139D}" destId="{F95CAF92-A606-437F-A7CD-A3CAF5A36AED}" srcOrd="0" destOrd="0" parTransId="{FCD107FB-49DB-4D7B-AD60-04FC7FA570B9}" sibTransId="{1C82A86D-6B1B-403E-86D7-8310CFB34926}"/>
    <dgm:cxn modelId="{CF8E8386-A35E-794D-BE07-0B3D958A3B5D}" type="presOf" srcId="{6DD6A3F6-9EBF-4C75-8A8F-ECB3B7C2AADB}" destId="{CC4C1734-57F7-904F-A273-4DD6705518CA}" srcOrd="0" destOrd="0" presId="urn:microsoft.com/office/officeart/2005/8/layout/vList2"/>
    <dgm:cxn modelId="{572A878E-2819-F646-8DA9-716B1757FD81}" type="presOf" srcId="{4A9F003A-5808-4552-90C4-33FBDB23DE2B}" destId="{A3624FD2-D44D-EE4E-BB14-EA88A18F4138}" srcOrd="0" destOrd="0" presId="urn:microsoft.com/office/officeart/2005/8/layout/vList2"/>
    <dgm:cxn modelId="{BDB5498F-F60D-AC49-88D0-D99C26435FFB}" type="presOf" srcId="{84E2549A-B0E8-48E7-93D0-B2E194124B22}" destId="{93E01AA5-2628-324B-9A63-53697C6F31A3}" srcOrd="0" destOrd="0" presId="urn:microsoft.com/office/officeart/2005/8/layout/vList2"/>
    <dgm:cxn modelId="{48B0B091-1A9C-A447-9099-3D9400466926}" type="presOf" srcId="{1086E396-B83F-4F44-8F61-E803E8AD80AF}" destId="{22F481A0-98B0-FA48-B7E8-0E0B77885728}" srcOrd="0" destOrd="0" presId="urn:microsoft.com/office/officeart/2005/8/layout/vList2"/>
    <dgm:cxn modelId="{776BCCC4-1C91-4722-8574-8A0DE9FB8A10}" srcId="{3A84A1EB-6549-456B-928C-E82F2A81139D}" destId="{6DD6A3F6-9EBF-4C75-8A8F-ECB3B7C2AADB}" srcOrd="8" destOrd="0" parTransId="{A14A47F8-7685-4DC0-BB3B-ABDA23983EEA}" sibTransId="{DAE950D4-CC6F-4AE1-B6A7-ED932F97F586}"/>
    <dgm:cxn modelId="{3079BFDE-D74D-0842-86BE-0F13DB897422}" type="presOf" srcId="{12679CC3-CE72-4BE1-BBD1-10DF7032743F}" destId="{6DCFA455-BFA2-DB4E-A904-6F80715876B1}" srcOrd="0" destOrd="0" presId="urn:microsoft.com/office/officeart/2005/8/layout/vList2"/>
    <dgm:cxn modelId="{A3CC44F7-5415-904A-9BD1-098FFBD14C04}" type="presOf" srcId="{FDA6E48E-0C4D-4192-ADED-70C7F7A5479D}" destId="{A7F5B7D7-A307-0940-9FC0-5449BE6AF107}" srcOrd="0" destOrd="0" presId="urn:microsoft.com/office/officeart/2005/8/layout/vList2"/>
    <dgm:cxn modelId="{4862F0B3-5C9C-0B43-8E13-5296341EDAD3}" type="presParOf" srcId="{0E3698AC-29FA-DB46-89CF-5BBFEE7C2F54}" destId="{85278BFF-7876-214D-A1E0-B30192C37094}" srcOrd="0" destOrd="0" presId="urn:microsoft.com/office/officeart/2005/8/layout/vList2"/>
    <dgm:cxn modelId="{CCF7B10F-8245-4349-9640-A423B1D9F114}" type="presParOf" srcId="{0E3698AC-29FA-DB46-89CF-5BBFEE7C2F54}" destId="{6EA0B865-CAD9-774D-B657-540343C2A483}" srcOrd="1" destOrd="0" presId="urn:microsoft.com/office/officeart/2005/8/layout/vList2"/>
    <dgm:cxn modelId="{620525FA-7FD1-9543-B9F1-59435A8BAA73}" type="presParOf" srcId="{0E3698AC-29FA-DB46-89CF-5BBFEE7C2F54}" destId="{6DCFA455-BFA2-DB4E-A904-6F80715876B1}" srcOrd="2" destOrd="0" presId="urn:microsoft.com/office/officeart/2005/8/layout/vList2"/>
    <dgm:cxn modelId="{7F1C7E8B-6CC6-0D48-AFF5-9EB4D8EA62E6}" type="presParOf" srcId="{0E3698AC-29FA-DB46-89CF-5BBFEE7C2F54}" destId="{1FE610CA-F07E-EE41-B8BE-831D0E8FDB51}" srcOrd="3" destOrd="0" presId="urn:microsoft.com/office/officeart/2005/8/layout/vList2"/>
    <dgm:cxn modelId="{7167EE34-21C2-6343-A8AE-3B1A765AEE78}" type="presParOf" srcId="{0E3698AC-29FA-DB46-89CF-5BBFEE7C2F54}" destId="{6CA81E2F-B2A4-3B4A-A0C3-352FF153896B}" srcOrd="4" destOrd="0" presId="urn:microsoft.com/office/officeart/2005/8/layout/vList2"/>
    <dgm:cxn modelId="{93269476-E5AA-044F-A007-83981EFAD735}" type="presParOf" srcId="{0E3698AC-29FA-DB46-89CF-5BBFEE7C2F54}" destId="{27DA7F03-17A0-9844-88C1-22EAC7517E13}" srcOrd="5" destOrd="0" presId="urn:microsoft.com/office/officeart/2005/8/layout/vList2"/>
    <dgm:cxn modelId="{CB646A01-2A8E-234F-845F-329ABCFF8FFB}" type="presParOf" srcId="{0E3698AC-29FA-DB46-89CF-5BBFEE7C2F54}" destId="{93E01AA5-2628-324B-9A63-53697C6F31A3}" srcOrd="6" destOrd="0" presId="urn:microsoft.com/office/officeart/2005/8/layout/vList2"/>
    <dgm:cxn modelId="{A57EF22A-9B54-A844-91FA-0BA1B747B033}" type="presParOf" srcId="{0E3698AC-29FA-DB46-89CF-5BBFEE7C2F54}" destId="{531C5BF0-4282-CB42-B853-6B3A5725B90C}" srcOrd="7" destOrd="0" presId="urn:microsoft.com/office/officeart/2005/8/layout/vList2"/>
    <dgm:cxn modelId="{B0FBB617-B64C-8343-AFE5-1984BD8A5A6B}" type="presParOf" srcId="{0E3698AC-29FA-DB46-89CF-5BBFEE7C2F54}" destId="{A3624FD2-D44D-EE4E-BB14-EA88A18F4138}" srcOrd="8" destOrd="0" presId="urn:microsoft.com/office/officeart/2005/8/layout/vList2"/>
    <dgm:cxn modelId="{F972AB56-D1A7-6847-A7B0-CD6ED95D2B9D}" type="presParOf" srcId="{0E3698AC-29FA-DB46-89CF-5BBFEE7C2F54}" destId="{369C7D31-883D-1041-8F5A-2BAFDAAA487F}" srcOrd="9" destOrd="0" presId="urn:microsoft.com/office/officeart/2005/8/layout/vList2"/>
    <dgm:cxn modelId="{64E054CD-F872-A84A-B8F9-1F1371B8A2F9}" type="presParOf" srcId="{0E3698AC-29FA-DB46-89CF-5BBFEE7C2F54}" destId="{22F481A0-98B0-FA48-B7E8-0E0B77885728}" srcOrd="10" destOrd="0" presId="urn:microsoft.com/office/officeart/2005/8/layout/vList2"/>
    <dgm:cxn modelId="{3B33B469-C345-8F4B-8773-300E870B9B0C}" type="presParOf" srcId="{0E3698AC-29FA-DB46-89CF-5BBFEE7C2F54}" destId="{32A326FB-B378-4641-81FE-3CC243149F40}" srcOrd="11" destOrd="0" presId="urn:microsoft.com/office/officeart/2005/8/layout/vList2"/>
    <dgm:cxn modelId="{1C4D63E6-50CD-CA43-9AF5-3A193C41C56D}" type="presParOf" srcId="{0E3698AC-29FA-DB46-89CF-5BBFEE7C2F54}" destId="{C12D7F7A-D6C8-934D-8C19-CF998FE1F5C3}" srcOrd="12" destOrd="0" presId="urn:microsoft.com/office/officeart/2005/8/layout/vList2"/>
    <dgm:cxn modelId="{4099AB46-2CE8-EC43-B3DB-EDE4C39BCFF9}" type="presParOf" srcId="{0E3698AC-29FA-DB46-89CF-5BBFEE7C2F54}" destId="{ACF8CD08-0471-4F4B-AB21-EE5E683FB47A}" srcOrd="13" destOrd="0" presId="urn:microsoft.com/office/officeart/2005/8/layout/vList2"/>
    <dgm:cxn modelId="{F6F64D36-0AB4-7A45-ACED-01381C3E6987}" type="presParOf" srcId="{0E3698AC-29FA-DB46-89CF-5BBFEE7C2F54}" destId="{A7F5B7D7-A307-0940-9FC0-5449BE6AF107}" srcOrd="14" destOrd="0" presId="urn:microsoft.com/office/officeart/2005/8/layout/vList2"/>
    <dgm:cxn modelId="{2F961BB5-5145-2840-AA09-12EFC430A07B}" type="presParOf" srcId="{0E3698AC-29FA-DB46-89CF-5BBFEE7C2F54}" destId="{3A227138-638B-2D45-AF65-32E2B397061A}" srcOrd="15" destOrd="0" presId="urn:microsoft.com/office/officeart/2005/8/layout/vList2"/>
    <dgm:cxn modelId="{FCA8EE5E-B246-6C48-993A-8699EF4A5B84}" type="presParOf" srcId="{0E3698AC-29FA-DB46-89CF-5BBFEE7C2F54}" destId="{CC4C1734-57F7-904F-A273-4DD6705518CA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3C91FA-6323-4427-88C3-DA98F83E1810}" type="doc">
      <dgm:prSet loTypeId="urn:microsoft.com/office/officeart/2005/8/layout/defaul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6BE5C5B-D390-4111-97CD-85BB544B42F4}">
      <dgm:prSet/>
      <dgm:spPr/>
      <dgm:t>
        <a:bodyPr/>
        <a:lstStyle/>
        <a:p>
          <a:r>
            <a:rPr lang="en-US" b="1"/>
            <a:t> Transfer Learning Implementation</a:t>
          </a:r>
          <a:br>
            <a:rPr lang="en-US" b="1"/>
          </a:br>
          <a:r>
            <a:rPr lang="en-US" b="1"/>
            <a:t> We will fine-tune the existing AventIQ-AI/BERT-Spam-Job-Posting-Detection</a:t>
          </a:r>
          <a:r>
            <a:rPr lang="en-US"/>
            <a:t> model using our </a:t>
          </a:r>
          <a:r>
            <a:rPr lang="en-US" b="1"/>
            <a:t>own scraped dataset</a:t>
          </a:r>
          <a:r>
            <a:rPr lang="en-US"/>
            <a:t>.</a:t>
          </a:r>
          <a:br>
            <a:rPr lang="en-US"/>
          </a:br>
          <a:r>
            <a:rPr lang="en-US"/>
            <a:t> This will help the model learn </a:t>
          </a:r>
          <a:r>
            <a:rPr lang="en-US" b="1"/>
            <a:t>local fraud patterns</a:t>
          </a:r>
          <a:r>
            <a:rPr lang="en-US"/>
            <a:t>, regional vocabulary, and current scam trends that were not in the original data.</a:t>
          </a:r>
        </a:p>
      </dgm:t>
    </dgm:pt>
    <dgm:pt modelId="{02168823-DEB2-4D07-9C09-834542880C90}" type="parTrans" cxnId="{20D0DE06-60AE-4CBF-A687-2B5B6ECA23F2}">
      <dgm:prSet/>
      <dgm:spPr/>
      <dgm:t>
        <a:bodyPr/>
        <a:lstStyle/>
        <a:p>
          <a:endParaRPr lang="en-US"/>
        </a:p>
      </dgm:t>
    </dgm:pt>
    <dgm:pt modelId="{BACB1E1E-DDFF-4A36-8D96-2129FE6F6E1D}" type="sibTrans" cxnId="{20D0DE06-60AE-4CBF-A687-2B5B6ECA23F2}">
      <dgm:prSet/>
      <dgm:spPr/>
      <dgm:t>
        <a:bodyPr/>
        <a:lstStyle/>
        <a:p>
          <a:endParaRPr lang="en-US"/>
        </a:p>
      </dgm:t>
    </dgm:pt>
    <dgm:pt modelId="{1D2CA7D8-CA30-43C3-80B5-8FF9F63037FD}">
      <dgm:prSet/>
      <dgm:spPr/>
      <dgm:t>
        <a:bodyPr/>
        <a:lstStyle/>
        <a:p>
          <a:r>
            <a:rPr lang="en-US" b="1"/>
            <a:t> Continuous Retraining Pipeline</a:t>
          </a:r>
          <a:br>
            <a:rPr lang="en-US" b="1"/>
          </a:br>
          <a:r>
            <a:rPr lang="en-US" b="1"/>
            <a:t> Our web scraper will keep collecting new postings every week.</a:t>
          </a:r>
          <a:br>
            <a:rPr lang="en-US" b="1"/>
          </a:br>
          <a:r>
            <a:rPr lang="en-US" b="1"/>
            <a:t> These will be reviewed and used for incremental retraining</a:t>
          </a:r>
          <a:r>
            <a:rPr lang="en-US"/>
            <a:t>, allowing the model to adapt as new fraud techniques appear.</a:t>
          </a:r>
        </a:p>
      </dgm:t>
    </dgm:pt>
    <dgm:pt modelId="{3829E840-92EC-4874-A676-25BC78BE115B}" type="parTrans" cxnId="{8C84B377-6FDF-41AE-AD2F-39E327456535}">
      <dgm:prSet/>
      <dgm:spPr/>
      <dgm:t>
        <a:bodyPr/>
        <a:lstStyle/>
        <a:p>
          <a:endParaRPr lang="en-US"/>
        </a:p>
      </dgm:t>
    </dgm:pt>
    <dgm:pt modelId="{C212FDB1-85B8-4B95-A9AB-872F1896D171}" type="sibTrans" cxnId="{8C84B377-6FDF-41AE-AD2F-39E327456535}">
      <dgm:prSet/>
      <dgm:spPr/>
      <dgm:t>
        <a:bodyPr/>
        <a:lstStyle/>
        <a:p>
          <a:endParaRPr lang="en-US"/>
        </a:p>
      </dgm:t>
    </dgm:pt>
    <dgm:pt modelId="{CEC4D7C7-06B0-40CF-A41D-C5EB08045681}">
      <dgm:prSet/>
      <dgm:spPr/>
      <dgm:t>
        <a:bodyPr/>
        <a:lstStyle/>
        <a:p>
          <a:r>
            <a:rPr lang="en-US" b="1">
              <a:latin typeface="Century Gothic" panose="020B0502020202020204"/>
            </a:rPr>
            <a:t>Domain-Specific</a:t>
          </a:r>
          <a:r>
            <a:rPr lang="en-US" b="1"/>
            <a:t> Adaptation</a:t>
          </a:r>
          <a:br>
            <a:rPr lang="en-US" b="1"/>
          </a:br>
          <a:r>
            <a:rPr lang="en-US" b="1"/>
            <a:t> Focus on Indian and regional job markets—handling terms like “LPA,” “Walk-in,” or “Telegram HR.”</a:t>
          </a:r>
          <a:br>
            <a:rPr lang="en-US" b="1"/>
          </a:br>
          <a:r>
            <a:rPr lang="en-US" b="1"/>
            <a:t> This increases accuracy for real-world, localized job postings</a:t>
          </a:r>
          <a:r>
            <a:rPr lang="en-US"/>
            <a:t>.</a:t>
          </a:r>
        </a:p>
      </dgm:t>
    </dgm:pt>
    <dgm:pt modelId="{7AA6DCEB-07C5-4EAA-BF5B-837D47E0EC41}" type="parTrans" cxnId="{756FC1C3-4590-4450-984A-2E1222FC17CB}">
      <dgm:prSet/>
      <dgm:spPr/>
      <dgm:t>
        <a:bodyPr/>
        <a:lstStyle/>
        <a:p>
          <a:endParaRPr lang="en-US"/>
        </a:p>
      </dgm:t>
    </dgm:pt>
    <dgm:pt modelId="{5BCDBE0C-0116-429E-B41B-CEEA55BD33CB}" type="sibTrans" cxnId="{756FC1C3-4590-4450-984A-2E1222FC17CB}">
      <dgm:prSet/>
      <dgm:spPr/>
      <dgm:t>
        <a:bodyPr/>
        <a:lstStyle/>
        <a:p>
          <a:endParaRPr lang="en-US"/>
        </a:p>
      </dgm:t>
    </dgm:pt>
    <dgm:pt modelId="{4F9D61E7-B2CE-490A-8604-46808E22D6B2}">
      <dgm:prSet/>
      <dgm:spPr/>
      <dgm:t>
        <a:bodyPr/>
        <a:lstStyle/>
        <a:p>
          <a:pPr rtl="0"/>
          <a:r>
            <a:rPr lang="en-US" b="1">
              <a:latin typeface="Century Gothic" panose="020B0502020202020204"/>
            </a:rPr>
            <a:t>Optimization</a:t>
          </a:r>
          <a:r>
            <a:rPr lang="en-US" b="1"/>
            <a:t> and Evaluation</a:t>
          </a:r>
          <a:br>
            <a:rPr lang="en-US" b="1"/>
          </a:br>
          <a:r>
            <a:rPr lang="en-US" b="1"/>
            <a:t> We’ll test improvements like layer freezing</a:t>
          </a:r>
          <a:r>
            <a:rPr lang="en-US"/>
            <a:t>, </a:t>
          </a:r>
          <a:r>
            <a:rPr lang="en-US" b="1"/>
            <a:t>class-imbalance handling</a:t>
          </a:r>
          <a:r>
            <a:rPr lang="en-US"/>
            <a:t>, and </a:t>
          </a:r>
          <a:r>
            <a:rPr lang="en-US" b="1"/>
            <a:t>threshold tuning</a:t>
          </a:r>
          <a:r>
            <a:rPr lang="en-US"/>
            <a:t> to boost precision and reduce false positives.</a:t>
          </a:r>
          <a:endParaRPr lang="en-US" b="0">
            <a:latin typeface="Century Gothic" panose="020B0502020202020204"/>
          </a:endParaRPr>
        </a:p>
      </dgm:t>
    </dgm:pt>
    <dgm:pt modelId="{E555A42F-3ACF-4F56-84A9-3E86CEF47F4E}" type="parTrans" cxnId="{EA0CC55C-C4ED-4DED-9408-FA065E5F3551}">
      <dgm:prSet/>
      <dgm:spPr/>
      <dgm:t>
        <a:bodyPr/>
        <a:lstStyle/>
        <a:p>
          <a:endParaRPr lang="en-US"/>
        </a:p>
      </dgm:t>
    </dgm:pt>
    <dgm:pt modelId="{C87DB568-C088-45C0-9C38-46C90FECEB98}" type="sibTrans" cxnId="{EA0CC55C-C4ED-4DED-9408-FA065E5F3551}">
      <dgm:prSet/>
      <dgm:spPr/>
      <dgm:t>
        <a:bodyPr/>
        <a:lstStyle/>
        <a:p>
          <a:endParaRPr lang="en-US"/>
        </a:p>
      </dgm:t>
    </dgm:pt>
    <dgm:pt modelId="{853BAB9A-2197-4848-ABE8-EACA7FA34176}">
      <dgm:prSet/>
      <dgm:spPr/>
      <dgm:t>
        <a:bodyPr/>
        <a:lstStyle/>
        <a:p>
          <a:r>
            <a:rPr lang="en-US"/>
            <a:t>Scraper → Preprocessing → BERT Model → Fraud Prediction → Dashboard/Alert</a:t>
          </a:r>
        </a:p>
      </dgm:t>
    </dgm:pt>
    <dgm:pt modelId="{E020B9B8-070A-4054-B67C-0D3BAC50D1DD}" type="parTrans" cxnId="{69A10E52-5E64-4C81-B768-2A10DB50E172}">
      <dgm:prSet/>
      <dgm:spPr/>
      <dgm:t>
        <a:bodyPr/>
        <a:lstStyle/>
        <a:p>
          <a:endParaRPr lang="en-US"/>
        </a:p>
      </dgm:t>
    </dgm:pt>
    <dgm:pt modelId="{84651078-D1A8-4004-ABF8-D3CAF39F63AB}" type="sibTrans" cxnId="{69A10E52-5E64-4C81-B768-2A10DB50E172}">
      <dgm:prSet/>
      <dgm:spPr/>
      <dgm:t>
        <a:bodyPr/>
        <a:lstStyle/>
        <a:p>
          <a:endParaRPr lang="en-US"/>
        </a:p>
      </dgm:t>
    </dgm:pt>
    <dgm:pt modelId="{C95282D5-B082-4D58-AED6-7583CF3028DD}">
      <dgm:prSet phldr="0"/>
      <dgm:spPr/>
      <dgm:t>
        <a:bodyPr/>
        <a:lstStyle/>
        <a:p>
          <a:r>
            <a:rPr lang="en-US" b="1">
              <a:latin typeface="Century Gothic" panose="020B0502020202020204"/>
            </a:rPr>
            <a:t>⃣</a:t>
          </a:r>
          <a:r>
            <a:rPr lang="en-US" b="1"/>
            <a:t> Real-Time Integration</a:t>
          </a:r>
          <a:br>
            <a:rPr lang="en-US" b="1"/>
          </a:br>
          <a:r>
            <a:rPr lang="en-US" b="1"/>
            <a:t> Integrate the upgraded model into a live fraud-detection pipeline</a:t>
          </a:r>
          <a:r>
            <a:rPr lang="en-US"/>
            <a:t>:</a:t>
          </a:r>
        </a:p>
      </dgm:t>
    </dgm:pt>
    <dgm:pt modelId="{A4E8F689-E3D6-4F11-8327-BC1DA13F746A}" type="parTrans" cxnId="{F581CB7B-B7D8-644B-8BD6-165C00CBBACB}">
      <dgm:prSet/>
      <dgm:spPr/>
    </dgm:pt>
    <dgm:pt modelId="{097EF10C-337C-4EE7-A5BC-3AE1963F4098}" type="sibTrans" cxnId="{F581CB7B-B7D8-644B-8BD6-165C00CBBACB}">
      <dgm:prSet/>
      <dgm:spPr/>
    </dgm:pt>
    <dgm:pt modelId="{34F1258C-756F-4E96-BAC7-989253157922}" type="pres">
      <dgm:prSet presAssocID="{0B3C91FA-6323-4427-88C3-DA98F83E1810}" presName="diagram" presStyleCnt="0">
        <dgm:presLayoutVars>
          <dgm:dir/>
          <dgm:resizeHandles val="exact"/>
        </dgm:presLayoutVars>
      </dgm:prSet>
      <dgm:spPr/>
    </dgm:pt>
    <dgm:pt modelId="{4072B87C-E91F-47A5-943F-853C8AACC99D}" type="pres">
      <dgm:prSet presAssocID="{A6BE5C5B-D390-4111-97CD-85BB544B42F4}" presName="node" presStyleLbl="node1" presStyleIdx="0" presStyleCnt="6">
        <dgm:presLayoutVars>
          <dgm:bulletEnabled val="1"/>
        </dgm:presLayoutVars>
      </dgm:prSet>
      <dgm:spPr/>
    </dgm:pt>
    <dgm:pt modelId="{6F62595E-51B2-4233-B12E-FF798F47476D}" type="pres">
      <dgm:prSet presAssocID="{BACB1E1E-DDFF-4A36-8D96-2129FE6F6E1D}" presName="sibTrans" presStyleCnt="0"/>
      <dgm:spPr/>
    </dgm:pt>
    <dgm:pt modelId="{679DE0EF-6A30-49E1-8A98-7AF3B54685CB}" type="pres">
      <dgm:prSet presAssocID="{1D2CA7D8-CA30-43C3-80B5-8FF9F63037FD}" presName="node" presStyleLbl="node1" presStyleIdx="1" presStyleCnt="6">
        <dgm:presLayoutVars>
          <dgm:bulletEnabled val="1"/>
        </dgm:presLayoutVars>
      </dgm:prSet>
      <dgm:spPr/>
    </dgm:pt>
    <dgm:pt modelId="{367BB5D4-A0BD-45F2-B7E6-65FB57E6FD5D}" type="pres">
      <dgm:prSet presAssocID="{C212FDB1-85B8-4B95-A9AB-872F1896D171}" presName="sibTrans" presStyleCnt="0"/>
      <dgm:spPr/>
    </dgm:pt>
    <dgm:pt modelId="{939C6E32-D82E-45BB-9791-06F4B655972F}" type="pres">
      <dgm:prSet presAssocID="{CEC4D7C7-06B0-40CF-A41D-C5EB08045681}" presName="node" presStyleLbl="node1" presStyleIdx="2" presStyleCnt="6">
        <dgm:presLayoutVars>
          <dgm:bulletEnabled val="1"/>
        </dgm:presLayoutVars>
      </dgm:prSet>
      <dgm:spPr/>
    </dgm:pt>
    <dgm:pt modelId="{0F558752-2A35-44AB-90F2-D8FE6F41D9FF}" type="pres">
      <dgm:prSet presAssocID="{5BCDBE0C-0116-429E-B41B-CEEA55BD33CB}" presName="sibTrans" presStyleCnt="0"/>
      <dgm:spPr/>
    </dgm:pt>
    <dgm:pt modelId="{4441F544-9C7A-493A-9996-7A2442E00134}" type="pres">
      <dgm:prSet presAssocID="{4F9D61E7-B2CE-490A-8604-46808E22D6B2}" presName="node" presStyleLbl="node1" presStyleIdx="3" presStyleCnt="6">
        <dgm:presLayoutVars>
          <dgm:bulletEnabled val="1"/>
        </dgm:presLayoutVars>
      </dgm:prSet>
      <dgm:spPr/>
    </dgm:pt>
    <dgm:pt modelId="{D7CFA9AA-35D3-4A69-96A0-73CC6B909986}" type="pres">
      <dgm:prSet presAssocID="{C87DB568-C088-45C0-9C38-46C90FECEB98}" presName="sibTrans" presStyleCnt="0"/>
      <dgm:spPr/>
    </dgm:pt>
    <dgm:pt modelId="{039435EA-E9AE-4200-B01C-9980F5EF751A}" type="pres">
      <dgm:prSet presAssocID="{C95282D5-B082-4D58-AED6-7583CF3028DD}" presName="node" presStyleLbl="node1" presStyleIdx="4" presStyleCnt="6">
        <dgm:presLayoutVars>
          <dgm:bulletEnabled val="1"/>
        </dgm:presLayoutVars>
      </dgm:prSet>
      <dgm:spPr/>
    </dgm:pt>
    <dgm:pt modelId="{205F8A46-31A5-4DDD-81EA-41AFCF3DEE56}" type="pres">
      <dgm:prSet presAssocID="{097EF10C-337C-4EE7-A5BC-3AE1963F4098}" presName="sibTrans" presStyleCnt="0"/>
      <dgm:spPr/>
    </dgm:pt>
    <dgm:pt modelId="{514A4071-E8D9-4C27-B46C-E2B3EE7F0DF8}" type="pres">
      <dgm:prSet presAssocID="{853BAB9A-2197-4848-ABE8-EACA7FA34176}" presName="node" presStyleLbl="node1" presStyleIdx="5" presStyleCnt="6">
        <dgm:presLayoutVars>
          <dgm:bulletEnabled val="1"/>
        </dgm:presLayoutVars>
      </dgm:prSet>
      <dgm:spPr/>
    </dgm:pt>
  </dgm:ptLst>
  <dgm:cxnLst>
    <dgm:cxn modelId="{20D0DE06-60AE-4CBF-A687-2B5B6ECA23F2}" srcId="{0B3C91FA-6323-4427-88C3-DA98F83E1810}" destId="{A6BE5C5B-D390-4111-97CD-85BB544B42F4}" srcOrd="0" destOrd="0" parTransId="{02168823-DEB2-4D07-9C09-834542880C90}" sibTransId="{BACB1E1E-DDFF-4A36-8D96-2129FE6F6E1D}"/>
    <dgm:cxn modelId="{5749F90A-4B4A-43B3-8EC7-61ADA4AD45AE}" type="presOf" srcId="{1D2CA7D8-CA30-43C3-80B5-8FF9F63037FD}" destId="{679DE0EF-6A30-49E1-8A98-7AF3B54685CB}" srcOrd="0" destOrd="0" presId="urn:microsoft.com/office/officeart/2005/8/layout/default"/>
    <dgm:cxn modelId="{B5BC675B-5532-4755-A577-A2FAD68D397B}" type="presOf" srcId="{4F9D61E7-B2CE-490A-8604-46808E22D6B2}" destId="{4441F544-9C7A-493A-9996-7A2442E00134}" srcOrd="0" destOrd="0" presId="urn:microsoft.com/office/officeart/2005/8/layout/default"/>
    <dgm:cxn modelId="{EA0CC55C-C4ED-4DED-9408-FA065E5F3551}" srcId="{0B3C91FA-6323-4427-88C3-DA98F83E1810}" destId="{4F9D61E7-B2CE-490A-8604-46808E22D6B2}" srcOrd="3" destOrd="0" parTransId="{E555A42F-3ACF-4F56-84A9-3E86CEF47F4E}" sibTransId="{C87DB568-C088-45C0-9C38-46C90FECEB98}"/>
    <dgm:cxn modelId="{04DB7C41-7CCF-4034-AC0C-CF8ECB26D27B}" type="presOf" srcId="{0B3C91FA-6323-4427-88C3-DA98F83E1810}" destId="{34F1258C-756F-4E96-BAC7-989253157922}" srcOrd="0" destOrd="0" presId="urn:microsoft.com/office/officeart/2005/8/layout/default"/>
    <dgm:cxn modelId="{0089C064-F5C2-43D7-BFA1-8B525C38AD3F}" type="presOf" srcId="{853BAB9A-2197-4848-ABE8-EACA7FA34176}" destId="{514A4071-E8D9-4C27-B46C-E2B3EE7F0DF8}" srcOrd="0" destOrd="0" presId="urn:microsoft.com/office/officeart/2005/8/layout/default"/>
    <dgm:cxn modelId="{69A10E52-5E64-4C81-B768-2A10DB50E172}" srcId="{0B3C91FA-6323-4427-88C3-DA98F83E1810}" destId="{853BAB9A-2197-4848-ABE8-EACA7FA34176}" srcOrd="5" destOrd="0" parTransId="{E020B9B8-070A-4054-B67C-0D3BAC50D1DD}" sibTransId="{84651078-D1A8-4004-ABF8-D3CAF39F63AB}"/>
    <dgm:cxn modelId="{8C84B377-6FDF-41AE-AD2F-39E327456535}" srcId="{0B3C91FA-6323-4427-88C3-DA98F83E1810}" destId="{1D2CA7D8-CA30-43C3-80B5-8FF9F63037FD}" srcOrd="1" destOrd="0" parTransId="{3829E840-92EC-4874-A676-25BC78BE115B}" sibTransId="{C212FDB1-85B8-4B95-A9AB-872F1896D171}"/>
    <dgm:cxn modelId="{F581CB7B-B7D8-644B-8BD6-165C00CBBACB}" srcId="{0B3C91FA-6323-4427-88C3-DA98F83E1810}" destId="{C95282D5-B082-4D58-AED6-7583CF3028DD}" srcOrd="4" destOrd="0" parTransId="{A4E8F689-E3D6-4F11-8327-BC1DA13F746A}" sibTransId="{097EF10C-337C-4EE7-A5BC-3AE1963F4098}"/>
    <dgm:cxn modelId="{CF95E590-38D5-48E0-A8BC-E5437FB724A5}" type="presOf" srcId="{A6BE5C5B-D390-4111-97CD-85BB544B42F4}" destId="{4072B87C-E91F-47A5-943F-853C8AACC99D}" srcOrd="0" destOrd="0" presId="urn:microsoft.com/office/officeart/2005/8/layout/default"/>
    <dgm:cxn modelId="{299C0695-D480-4B82-A8B1-BB92D617066D}" type="presOf" srcId="{CEC4D7C7-06B0-40CF-A41D-C5EB08045681}" destId="{939C6E32-D82E-45BB-9791-06F4B655972F}" srcOrd="0" destOrd="0" presId="urn:microsoft.com/office/officeart/2005/8/layout/default"/>
    <dgm:cxn modelId="{756FC1C3-4590-4450-984A-2E1222FC17CB}" srcId="{0B3C91FA-6323-4427-88C3-DA98F83E1810}" destId="{CEC4D7C7-06B0-40CF-A41D-C5EB08045681}" srcOrd="2" destOrd="0" parTransId="{7AA6DCEB-07C5-4EAA-BF5B-837D47E0EC41}" sibTransId="{5BCDBE0C-0116-429E-B41B-CEEA55BD33CB}"/>
    <dgm:cxn modelId="{DAE7EAC4-32FA-9845-A43B-D6CFFF8E3214}" type="presOf" srcId="{C95282D5-B082-4D58-AED6-7583CF3028DD}" destId="{039435EA-E9AE-4200-B01C-9980F5EF751A}" srcOrd="0" destOrd="0" presId="urn:microsoft.com/office/officeart/2005/8/layout/default"/>
    <dgm:cxn modelId="{270C8D6B-E619-445A-A9CF-5A70A26D95A1}" type="presParOf" srcId="{34F1258C-756F-4E96-BAC7-989253157922}" destId="{4072B87C-E91F-47A5-943F-853C8AACC99D}" srcOrd="0" destOrd="0" presId="urn:microsoft.com/office/officeart/2005/8/layout/default"/>
    <dgm:cxn modelId="{32582AEA-5FC9-45BF-AAC8-F7FF857B7912}" type="presParOf" srcId="{34F1258C-756F-4E96-BAC7-989253157922}" destId="{6F62595E-51B2-4233-B12E-FF798F47476D}" srcOrd="1" destOrd="0" presId="urn:microsoft.com/office/officeart/2005/8/layout/default"/>
    <dgm:cxn modelId="{90C7C445-9EB4-4840-B6FC-35E6233568E2}" type="presParOf" srcId="{34F1258C-756F-4E96-BAC7-989253157922}" destId="{679DE0EF-6A30-49E1-8A98-7AF3B54685CB}" srcOrd="2" destOrd="0" presId="urn:microsoft.com/office/officeart/2005/8/layout/default"/>
    <dgm:cxn modelId="{B4A97587-CBAC-4394-AEB4-5F7736E900B5}" type="presParOf" srcId="{34F1258C-756F-4E96-BAC7-989253157922}" destId="{367BB5D4-A0BD-45F2-B7E6-65FB57E6FD5D}" srcOrd="3" destOrd="0" presId="urn:microsoft.com/office/officeart/2005/8/layout/default"/>
    <dgm:cxn modelId="{1BE60296-41A4-420C-9F0B-97FA3F8AC658}" type="presParOf" srcId="{34F1258C-756F-4E96-BAC7-989253157922}" destId="{939C6E32-D82E-45BB-9791-06F4B655972F}" srcOrd="4" destOrd="0" presId="urn:microsoft.com/office/officeart/2005/8/layout/default"/>
    <dgm:cxn modelId="{0899EF4E-45D9-460E-8BFF-68A4FBF123ED}" type="presParOf" srcId="{34F1258C-756F-4E96-BAC7-989253157922}" destId="{0F558752-2A35-44AB-90F2-D8FE6F41D9FF}" srcOrd="5" destOrd="0" presId="urn:microsoft.com/office/officeart/2005/8/layout/default"/>
    <dgm:cxn modelId="{B7136CC2-D560-4234-95D7-32FAEF5B4EED}" type="presParOf" srcId="{34F1258C-756F-4E96-BAC7-989253157922}" destId="{4441F544-9C7A-493A-9996-7A2442E00134}" srcOrd="6" destOrd="0" presId="urn:microsoft.com/office/officeart/2005/8/layout/default"/>
    <dgm:cxn modelId="{D6CD2324-03E2-462F-BE28-D45ADDB8853A}" type="presParOf" srcId="{34F1258C-756F-4E96-BAC7-989253157922}" destId="{D7CFA9AA-35D3-4A69-96A0-73CC6B909986}" srcOrd="7" destOrd="0" presId="urn:microsoft.com/office/officeart/2005/8/layout/default"/>
    <dgm:cxn modelId="{3E8478AF-EBD8-AE45-BAB5-2979BB904D43}" type="presParOf" srcId="{34F1258C-756F-4E96-BAC7-989253157922}" destId="{039435EA-E9AE-4200-B01C-9980F5EF751A}" srcOrd="8" destOrd="0" presId="urn:microsoft.com/office/officeart/2005/8/layout/default"/>
    <dgm:cxn modelId="{4C8703D8-9DF6-BC49-9209-AFCCA03A34BA}" type="presParOf" srcId="{34F1258C-756F-4E96-BAC7-989253157922}" destId="{205F8A46-31A5-4DDD-81EA-41AFCF3DEE56}" srcOrd="9" destOrd="0" presId="urn:microsoft.com/office/officeart/2005/8/layout/default"/>
    <dgm:cxn modelId="{D5AB8223-8FD7-4D3B-BEBA-DC1A8E719D9B}" type="presParOf" srcId="{34F1258C-756F-4E96-BAC7-989253157922}" destId="{514A4071-E8D9-4C27-B46C-E2B3EE7F0DF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A5D9E-EDE7-4F56-A76D-8BDB31D541EB}">
      <dsp:nvSpPr>
        <dsp:cNvPr id="0" name=""/>
        <dsp:cNvSpPr/>
      </dsp:nvSpPr>
      <dsp:spPr>
        <a:xfrm>
          <a:off x="134825" y="335968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00494-3FE4-499C-ADCE-6541BE8F7369}">
      <dsp:nvSpPr>
        <dsp:cNvPr id="0" name=""/>
        <dsp:cNvSpPr/>
      </dsp:nvSpPr>
      <dsp:spPr>
        <a:xfrm>
          <a:off x="406966" y="608109"/>
          <a:ext cx="751627" cy="751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0ABDB-A06D-4CF2-A24D-4892A4A1655F}">
      <dsp:nvSpPr>
        <dsp:cNvPr id="0" name=""/>
        <dsp:cNvSpPr/>
      </dsp:nvSpPr>
      <dsp:spPr>
        <a:xfrm>
          <a:off x="1708430" y="335968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Rising Cybercrime</a:t>
          </a:r>
          <a:r>
            <a:rPr lang="en-IN" sz="2000" kern="1200"/>
            <a:t>: Online recruitment fraud increased by 300% since COVID-19</a:t>
          </a:r>
          <a:endParaRPr lang="en-US" sz="2000" kern="1200"/>
        </a:p>
      </dsp:txBody>
      <dsp:txXfrm>
        <a:off x="1708430" y="335968"/>
        <a:ext cx="3054644" cy="1295909"/>
      </dsp:txXfrm>
    </dsp:sp>
    <dsp:sp modelId="{2BD50B9D-0377-4EC7-BB5E-A44AF5EA9664}">
      <dsp:nvSpPr>
        <dsp:cNvPr id="0" name=""/>
        <dsp:cNvSpPr/>
      </dsp:nvSpPr>
      <dsp:spPr>
        <a:xfrm>
          <a:off x="5295324" y="335968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1381E-0886-4B38-8BE5-A93DBB17D398}">
      <dsp:nvSpPr>
        <dsp:cNvPr id="0" name=""/>
        <dsp:cNvSpPr/>
      </dsp:nvSpPr>
      <dsp:spPr>
        <a:xfrm>
          <a:off x="5567465" y="608109"/>
          <a:ext cx="751627" cy="751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1CA8C-FCC9-4866-8752-4D0578EAEC72}">
      <dsp:nvSpPr>
        <dsp:cNvPr id="0" name=""/>
        <dsp:cNvSpPr/>
      </dsp:nvSpPr>
      <dsp:spPr>
        <a:xfrm>
          <a:off x="6868929" y="335968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Financial Losses</a:t>
          </a:r>
          <a:r>
            <a:rPr lang="en-IN" sz="2000" kern="1200"/>
            <a:t>: Job seekers lose millions annually to fake job scams</a:t>
          </a:r>
          <a:endParaRPr lang="en-US" sz="2000" kern="1200"/>
        </a:p>
      </dsp:txBody>
      <dsp:txXfrm>
        <a:off x="6868929" y="335968"/>
        <a:ext cx="3054644" cy="1295909"/>
      </dsp:txXfrm>
    </dsp:sp>
    <dsp:sp modelId="{DDA155D6-ED4E-4043-B149-75C9A7B938E2}">
      <dsp:nvSpPr>
        <dsp:cNvPr id="0" name=""/>
        <dsp:cNvSpPr/>
      </dsp:nvSpPr>
      <dsp:spPr>
        <a:xfrm>
          <a:off x="134825" y="2300358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79BEF-67B7-440D-A715-A9F8A8498B48}">
      <dsp:nvSpPr>
        <dsp:cNvPr id="0" name=""/>
        <dsp:cNvSpPr/>
      </dsp:nvSpPr>
      <dsp:spPr>
        <a:xfrm>
          <a:off x="406966" y="2572499"/>
          <a:ext cx="751627" cy="7516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92627-B06B-4830-A596-2D8EE7CD850C}">
      <dsp:nvSpPr>
        <dsp:cNvPr id="0" name=""/>
        <dsp:cNvSpPr/>
      </dsp:nvSpPr>
      <dsp:spPr>
        <a:xfrm>
          <a:off x="1708430" y="2300358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Limited Solutions</a:t>
          </a:r>
          <a:r>
            <a:rPr lang="en-IN" sz="2000" kern="1200"/>
            <a:t>: Existing systems have poor detection accuracy (50-70% recall)</a:t>
          </a:r>
          <a:endParaRPr lang="en-US" sz="2000" kern="1200"/>
        </a:p>
      </dsp:txBody>
      <dsp:txXfrm>
        <a:off x="1708430" y="2300358"/>
        <a:ext cx="3054644" cy="1295909"/>
      </dsp:txXfrm>
    </dsp:sp>
    <dsp:sp modelId="{94AD2EFB-0F4A-41C3-AD76-9FDB4A2E851D}">
      <dsp:nvSpPr>
        <dsp:cNvPr id="0" name=""/>
        <dsp:cNvSpPr/>
      </dsp:nvSpPr>
      <dsp:spPr>
        <a:xfrm>
          <a:off x="5295324" y="2300358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0A4E9-D051-4F6C-B3C2-72AC1C6B28BB}">
      <dsp:nvSpPr>
        <dsp:cNvPr id="0" name=""/>
        <dsp:cNvSpPr/>
      </dsp:nvSpPr>
      <dsp:spPr>
        <a:xfrm>
          <a:off x="5567465" y="2572499"/>
          <a:ext cx="751627" cy="7516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725A9-3F45-4CC1-A311-E57CCE199E92}">
      <dsp:nvSpPr>
        <dsp:cNvPr id="0" name=""/>
        <dsp:cNvSpPr/>
      </dsp:nvSpPr>
      <dsp:spPr>
        <a:xfrm>
          <a:off x="6868929" y="2300358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Class Imbalance</a:t>
          </a:r>
          <a:r>
            <a:rPr lang="en-IN" sz="2000" kern="1200"/>
            <a:t>: Fraudulent posts are only 2% of total job listings</a:t>
          </a:r>
          <a:endParaRPr lang="en-US" sz="2000" kern="1200"/>
        </a:p>
      </dsp:txBody>
      <dsp:txXfrm>
        <a:off x="6868929" y="2300358"/>
        <a:ext cx="3054644" cy="12959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66563-C468-48C5-BB85-BD6DA5091AAE}">
      <dsp:nvSpPr>
        <dsp:cNvPr id="0" name=""/>
        <dsp:cNvSpPr/>
      </dsp:nvSpPr>
      <dsp:spPr>
        <a:xfrm>
          <a:off x="0" y="2170"/>
          <a:ext cx="5906181" cy="11002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A34EA-C49D-448A-854D-7C3C627C9C65}">
      <dsp:nvSpPr>
        <dsp:cNvPr id="0" name=""/>
        <dsp:cNvSpPr/>
      </dsp:nvSpPr>
      <dsp:spPr>
        <a:xfrm>
          <a:off x="332837" y="249736"/>
          <a:ext cx="605159" cy="605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EA5B65-EE48-477F-9903-3BE238D825B8}">
      <dsp:nvSpPr>
        <dsp:cNvPr id="0" name=""/>
        <dsp:cNvSpPr/>
      </dsp:nvSpPr>
      <dsp:spPr>
        <a:xfrm>
          <a:off x="1270834" y="2170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AI-Powered Detection</a:t>
          </a:r>
          <a:r>
            <a:rPr lang="en-US" sz="1500" kern="1200"/>
            <a:t>: Uses BERT (Google's advanced NLP model)</a:t>
          </a:r>
        </a:p>
      </dsp:txBody>
      <dsp:txXfrm>
        <a:off x="1270834" y="2170"/>
        <a:ext cx="4635346" cy="1100289"/>
      </dsp:txXfrm>
    </dsp:sp>
    <dsp:sp modelId="{A2362A26-5ACE-4814-A5D7-FBAC59876633}">
      <dsp:nvSpPr>
        <dsp:cNvPr id="0" name=""/>
        <dsp:cNvSpPr/>
      </dsp:nvSpPr>
      <dsp:spPr>
        <a:xfrm>
          <a:off x="0" y="1377533"/>
          <a:ext cx="5906181" cy="11002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48E11-15B0-4787-8CAE-DD4A1FCEEF69}">
      <dsp:nvSpPr>
        <dsp:cNvPr id="0" name=""/>
        <dsp:cNvSpPr/>
      </dsp:nvSpPr>
      <dsp:spPr>
        <a:xfrm>
          <a:off x="332837" y="1625098"/>
          <a:ext cx="605159" cy="605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3B87A-367F-48A2-B2DB-F9DE176A89A0}">
      <dsp:nvSpPr>
        <dsp:cNvPr id="0" name=""/>
        <dsp:cNvSpPr/>
      </dsp:nvSpPr>
      <dsp:spPr>
        <a:xfrm>
          <a:off x="1270834" y="1377533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Smart Data Balancing</a:t>
          </a:r>
          <a:r>
            <a:rPr lang="en-US" sz="1500" kern="1200"/>
            <a:t>: Implements SMOTE(Synthetic Minority Over-sampling Technique ) variants to handle data imbalance</a:t>
          </a:r>
        </a:p>
      </dsp:txBody>
      <dsp:txXfrm>
        <a:off x="1270834" y="1377533"/>
        <a:ext cx="4635346" cy="1100289"/>
      </dsp:txXfrm>
    </dsp:sp>
    <dsp:sp modelId="{53672791-DC5A-4BA6-90DF-1334269613DE}">
      <dsp:nvSpPr>
        <dsp:cNvPr id="0" name=""/>
        <dsp:cNvSpPr/>
      </dsp:nvSpPr>
      <dsp:spPr>
        <a:xfrm>
          <a:off x="0" y="2752895"/>
          <a:ext cx="5906181" cy="110028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1E040-2F7C-4443-8415-566F6E890776}">
      <dsp:nvSpPr>
        <dsp:cNvPr id="0" name=""/>
        <dsp:cNvSpPr/>
      </dsp:nvSpPr>
      <dsp:spPr>
        <a:xfrm>
          <a:off x="332837" y="3000460"/>
          <a:ext cx="605159" cy="605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AD9A3-C184-4316-A0D5-9FD0453A17F7}">
      <dsp:nvSpPr>
        <dsp:cNvPr id="0" name=""/>
        <dsp:cNvSpPr/>
      </dsp:nvSpPr>
      <dsp:spPr>
        <a:xfrm>
          <a:off x="1270834" y="2752895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Real-time Analysis</a:t>
          </a:r>
          <a:r>
            <a:rPr lang="en-US" sz="1500" kern="1200"/>
            <a:t>: Provides instant fraud scoring for job postings</a:t>
          </a:r>
        </a:p>
      </dsp:txBody>
      <dsp:txXfrm>
        <a:off x="1270834" y="2752895"/>
        <a:ext cx="4635346" cy="1100289"/>
      </dsp:txXfrm>
    </dsp:sp>
    <dsp:sp modelId="{0D33B581-DB29-41A9-80BB-A9B022357A24}">
      <dsp:nvSpPr>
        <dsp:cNvPr id="0" name=""/>
        <dsp:cNvSpPr/>
      </dsp:nvSpPr>
      <dsp:spPr>
        <a:xfrm>
          <a:off x="0" y="4128257"/>
          <a:ext cx="5906181" cy="110028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CFCD9-BE50-40F8-8428-AB55AE212480}">
      <dsp:nvSpPr>
        <dsp:cNvPr id="0" name=""/>
        <dsp:cNvSpPr/>
      </dsp:nvSpPr>
      <dsp:spPr>
        <a:xfrm>
          <a:off x="332837" y="4375822"/>
          <a:ext cx="605159" cy="605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7D39E-7509-4207-BF45-B7894223FF29}">
      <dsp:nvSpPr>
        <dsp:cNvPr id="0" name=""/>
        <dsp:cNvSpPr/>
      </dsp:nvSpPr>
      <dsp:spPr>
        <a:xfrm>
          <a:off x="1270834" y="4128257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Multi-source Data</a:t>
          </a:r>
          <a:r>
            <a:rPr lang="en-US" sz="1500" kern="1200"/>
            <a:t>: Collects from LinkedIn APIs + third-party providers</a:t>
          </a:r>
        </a:p>
      </dsp:txBody>
      <dsp:txXfrm>
        <a:off x="1270834" y="4128257"/>
        <a:ext cx="4635346" cy="11002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DC26D-CC24-49BA-9FB5-C8BE55346538}">
      <dsp:nvSpPr>
        <dsp:cNvPr id="0" name=""/>
        <dsp:cNvSpPr/>
      </dsp:nvSpPr>
      <dsp:spPr>
        <a:xfrm>
          <a:off x="0" y="3148"/>
          <a:ext cx="10515600" cy="6707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8CE9B-8D55-4AD4-8F1A-F4130E38C520}">
      <dsp:nvSpPr>
        <dsp:cNvPr id="0" name=""/>
        <dsp:cNvSpPr/>
      </dsp:nvSpPr>
      <dsp:spPr>
        <a:xfrm>
          <a:off x="202895" y="154062"/>
          <a:ext cx="368900" cy="3689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6694A-1858-4D02-86A4-B72D83EE8770}">
      <dsp:nvSpPr>
        <dsp:cNvPr id="0" name=""/>
        <dsp:cNvSpPr/>
      </dsp:nvSpPr>
      <dsp:spPr>
        <a:xfrm>
          <a:off x="774690" y="3148"/>
          <a:ext cx="9740909" cy="670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985" tIns="70985" rIns="70985" bIns="7098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contains a mix of real and fake job listings from all over the world.</a:t>
          </a:r>
        </a:p>
      </dsp:txBody>
      <dsp:txXfrm>
        <a:off x="774690" y="3148"/>
        <a:ext cx="9740909" cy="670727"/>
      </dsp:txXfrm>
    </dsp:sp>
    <dsp:sp modelId="{6713660B-2A05-40B9-AB3B-82CB210B8F85}">
      <dsp:nvSpPr>
        <dsp:cNvPr id="0" name=""/>
        <dsp:cNvSpPr/>
      </dsp:nvSpPr>
      <dsp:spPr>
        <a:xfrm>
          <a:off x="0" y="841558"/>
          <a:ext cx="10515600" cy="6707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30A511-2C72-406B-A21F-9E6E620FDBB9}">
      <dsp:nvSpPr>
        <dsp:cNvPr id="0" name=""/>
        <dsp:cNvSpPr/>
      </dsp:nvSpPr>
      <dsp:spPr>
        <a:xfrm>
          <a:off x="202895" y="992472"/>
          <a:ext cx="368900" cy="368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0F418-4EA7-4B49-98FA-FF0FDE9E10B9}">
      <dsp:nvSpPr>
        <dsp:cNvPr id="0" name=""/>
        <dsp:cNvSpPr/>
      </dsp:nvSpPr>
      <dsp:spPr>
        <a:xfrm>
          <a:off x="774690" y="841558"/>
          <a:ext cx="9740909" cy="670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985" tIns="70985" rIns="70985" bIns="7098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These job posts are clearly marked as real (0) or fake (1), which is great for training supervised machine learning models.</a:t>
          </a:r>
        </a:p>
      </dsp:txBody>
      <dsp:txXfrm>
        <a:off x="774690" y="841558"/>
        <a:ext cx="9740909" cy="670727"/>
      </dsp:txXfrm>
    </dsp:sp>
    <dsp:sp modelId="{AFCE8ACC-02C2-4DF7-8BF1-0260227438B3}">
      <dsp:nvSpPr>
        <dsp:cNvPr id="0" name=""/>
        <dsp:cNvSpPr/>
      </dsp:nvSpPr>
      <dsp:spPr>
        <a:xfrm>
          <a:off x="0" y="1679967"/>
          <a:ext cx="10515600" cy="6707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2A4F5-16F7-4236-B8A4-7FD886718759}">
      <dsp:nvSpPr>
        <dsp:cNvPr id="0" name=""/>
        <dsp:cNvSpPr/>
      </dsp:nvSpPr>
      <dsp:spPr>
        <a:xfrm>
          <a:off x="202895" y="1830881"/>
          <a:ext cx="368900" cy="3689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33EB5-63A1-4297-B573-F28EE5DD3298}">
      <dsp:nvSpPr>
        <dsp:cNvPr id="0" name=""/>
        <dsp:cNvSpPr/>
      </dsp:nvSpPr>
      <dsp:spPr>
        <a:xfrm>
          <a:off x="774690" y="1679967"/>
          <a:ext cx="9740909" cy="670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985" tIns="70985" rIns="70985" bIns="7098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54.4k rows and 10 attributes.</a:t>
          </a:r>
        </a:p>
      </dsp:txBody>
      <dsp:txXfrm>
        <a:off x="774690" y="1679967"/>
        <a:ext cx="9740909" cy="670727"/>
      </dsp:txXfrm>
    </dsp:sp>
    <dsp:sp modelId="{7753223C-7EDE-4C06-A3CB-B2EBC7CACA47}">
      <dsp:nvSpPr>
        <dsp:cNvPr id="0" name=""/>
        <dsp:cNvSpPr/>
      </dsp:nvSpPr>
      <dsp:spPr>
        <a:xfrm>
          <a:off x="0" y="2518377"/>
          <a:ext cx="10515600" cy="6707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9F46E-7DE0-49AA-9CB0-B899F4C63BD1}">
      <dsp:nvSpPr>
        <dsp:cNvPr id="0" name=""/>
        <dsp:cNvSpPr/>
      </dsp:nvSpPr>
      <dsp:spPr>
        <a:xfrm>
          <a:off x="202895" y="2669290"/>
          <a:ext cx="368900" cy="3689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C4FA0-9FEF-466D-8F15-8412BE9C96DC}">
      <dsp:nvSpPr>
        <dsp:cNvPr id="0" name=""/>
        <dsp:cNvSpPr/>
      </dsp:nvSpPr>
      <dsp:spPr>
        <a:xfrm>
          <a:off x="774690" y="2518377"/>
          <a:ext cx="9740909" cy="670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985" tIns="70985" rIns="70985" bIns="7098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Link: </a:t>
          </a:r>
          <a:r>
            <a:rPr lang="en-US" sz="1700" kern="1200">
              <a:hlinkClick xmlns:r="http://schemas.openxmlformats.org/officeDocument/2006/relationships" r:id="rId9"/>
            </a:rPr>
            <a:t>kaggle</a:t>
          </a:r>
          <a:endParaRPr lang="en-US" sz="1700" kern="1200"/>
        </a:p>
      </dsp:txBody>
      <dsp:txXfrm>
        <a:off x="774690" y="2518377"/>
        <a:ext cx="9740909" cy="670727"/>
      </dsp:txXfrm>
    </dsp:sp>
    <dsp:sp modelId="{DE50077F-F68E-4EA0-9E1D-C340366DCAB2}">
      <dsp:nvSpPr>
        <dsp:cNvPr id="0" name=""/>
        <dsp:cNvSpPr/>
      </dsp:nvSpPr>
      <dsp:spPr>
        <a:xfrm>
          <a:off x="0" y="3356786"/>
          <a:ext cx="10515600" cy="6707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C1022-85E8-4E2E-A552-512F7E251825}">
      <dsp:nvSpPr>
        <dsp:cNvPr id="0" name=""/>
        <dsp:cNvSpPr/>
      </dsp:nvSpPr>
      <dsp:spPr>
        <a:xfrm>
          <a:off x="202895" y="3507700"/>
          <a:ext cx="368900" cy="368900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38876-DFFA-42F4-869B-E1316F48BF9A}">
      <dsp:nvSpPr>
        <dsp:cNvPr id="0" name=""/>
        <dsp:cNvSpPr/>
      </dsp:nvSpPr>
      <dsp:spPr>
        <a:xfrm>
          <a:off x="774690" y="3356786"/>
          <a:ext cx="9740909" cy="670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985" tIns="70985" rIns="70985" bIns="7098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32.6K real and 13.5k fake job postings</a:t>
          </a:r>
        </a:p>
      </dsp:txBody>
      <dsp:txXfrm>
        <a:off x="774690" y="3356786"/>
        <a:ext cx="9740909" cy="670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78BFF-7876-214D-A1E0-B30192C37094}">
      <dsp:nvSpPr>
        <dsp:cNvPr id="0" name=""/>
        <dsp:cNvSpPr/>
      </dsp:nvSpPr>
      <dsp:spPr>
        <a:xfrm>
          <a:off x="0" y="138468"/>
          <a:ext cx="5906181" cy="5171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BERT-based binary classifier fine-tuned to detect whether a job posting is fake or real. </a:t>
          </a:r>
        </a:p>
      </dsp:txBody>
      <dsp:txXfrm>
        <a:off x="25245" y="163713"/>
        <a:ext cx="5855691" cy="466650"/>
      </dsp:txXfrm>
    </dsp:sp>
    <dsp:sp modelId="{6DCFA455-BFA2-DB4E-A904-6F80715876B1}">
      <dsp:nvSpPr>
        <dsp:cNvPr id="0" name=""/>
        <dsp:cNvSpPr/>
      </dsp:nvSpPr>
      <dsp:spPr>
        <a:xfrm>
          <a:off x="0" y="693048"/>
          <a:ext cx="5906181" cy="517140"/>
        </a:xfrm>
        <a:prstGeom prst="roundRect">
          <a:avLst/>
        </a:prstGeom>
        <a:solidFill>
          <a:schemeClr val="accent2">
            <a:hueOff val="-165422"/>
            <a:satOff val="186"/>
            <a:lumOff val="4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Built on top of bert-base-uncased as the backbone model. </a:t>
          </a:r>
        </a:p>
      </dsp:txBody>
      <dsp:txXfrm>
        <a:off x="25245" y="718293"/>
        <a:ext cx="5855691" cy="466650"/>
      </dsp:txXfrm>
    </dsp:sp>
    <dsp:sp modelId="{6CA81E2F-B2A4-3B4A-A0C3-352FF153896B}">
      <dsp:nvSpPr>
        <dsp:cNvPr id="0" name=""/>
        <dsp:cNvSpPr/>
      </dsp:nvSpPr>
      <dsp:spPr>
        <a:xfrm>
          <a:off x="0" y="1247629"/>
          <a:ext cx="5906181" cy="517140"/>
        </a:xfrm>
        <a:prstGeom prst="round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Lightweight and usable on both CPU and GPU for inference</a:t>
          </a:r>
        </a:p>
      </dsp:txBody>
      <dsp:txXfrm>
        <a:off x="25245" y="1272874"/>
        <a:ext cx="5855691" cy="466650"/>
      </dsp:txXfrm>
    </dsp:sp>
    <dsp:sp modelId="{93E01AA5-2628-324B-9A63-53697C6F31A3}">
      <dsp:nvSpPr>
        <dsp:cNvPr id="0" name=""/>
        <dsp:cNvSpPr/>
      </dsp:nvSpPr>
      <dsp:spPr>
        <a:xfrm>
          <a:off x="0" y="1802209"/>
          <a:ext cx="5906181" cy="517140"/>
        </a:xfrm>
        <a:prstGeom prst="roundRect">
          <a:avLst/>
        </a:prstGeom>
        <a:solidFill>
          <a:schemeClr val="accent2">
            <a:hueOff val="-496265"/>
            <a:satOff val="559"/>
            <a:lumOff val="13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Accuracy</a:t>
          </a:r>
          <a:r>
            <a:rPr lang="en-US" sz="1300" kern="1200"/>
            <a:t>: 0.97 on the held-out test set</a:t>
          </a:r>
        </a:p>
      </dsp:txBody>
      <dsp:txXfrm>
        <a:off x="25245" y="1827454"/>
        <a:ext cx="5855691" cy="466650"/>
      </dsp:txXfrm>
    </dsp:sp>
    <dsp:sp modelId="{A3624FD2-D44D-EE4E-BB14-EA88A18F4138}">
      <dsp:nvSpPr>
        <dsp:cNvPr id="0" name=""/>
        <dsp:cNvSpPr/>
      </dsp:nvSpPr>
      <dsp:spPr>
        <a:xfrm>
          <a:off x="0" y="2356789"/>
          <a:ext cx="5906181" cy="51714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Precision</a:t>
          </a:r>
          <a:r>
            <a:rPr lang="en-US" sz="1300" kern="1200"/>
            <a:t>: ≈ 0.81</a:t>
          </a:r>
        </a:p>
      </dsp:txBody>
      <dsp:txXfrm>
        <a:off x="25245" y="2382034"/>
        <a:ext cx="5855691" cy="466650"/>
      </dsp:txXfrm>
    </dsp:sp>
    <dsp:sp modelId="{22F481A0-98B0-FA48-B7E8-0E0B77885728}">
      <dsp:nvSpPr>
        <dsp:cNvPr id="0" name=""/>
        <dsp:cNvSpPr/>
      </dsp:nvSpPr>
      <dsp:spPr>
        <a:xfrm>
          <a:off x="0" y="2911369"/>
          <a:ext cx="5906181" cy="517140"/>
        </a:xfrm>
        <a:prstGeom prst="roundRect">
          <a:avLst/>
        </a:prstGeom>
        <a:solidFill>
          <a:schemeClr val="accent2">
            <a:hueOff val="-827108"/>
            <a:satOff val="932"/>
            <a:lumOff val="2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Dataset :- Combination Of Multiple custom Dataset </a:t>
          </a:r>
        </a:p>
      </dsp:txBody>
      <dsp:txXfrm>
        <a:off x="25245" y="2936614"/>
        <a:ext cx="5855691" cy="466650"/>
      </dsp:txXfrm>
    </dsp:sp>
    <dsp:sp modelId="{C12D7F7A-D6C8-934D-8C19-CF998FE1F5C3}">
      <dsp:nvSpPr>
        <dsp:cNvPr id="0" name=""/>
        <dsp:cNvSpPr/>
      </dsp:nvSpPr>
      <dsp:spPr>
        <a:xfrm>
          <a:off x="0" y="3465949"/>
          <a:ext cx="5906181" cy="517140"/>
        </a:xfrm>
        <a:prstGeom prst="round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Epochs :- </a:t>
          </a:r>
          <a:r>
            <a:rPr lang="en-US" sz="1300" kern="1200"/>
            <a:t>3 </a:t>
          </a:r>
        </a:p>
      </dsp:txBody>
      <dsp:txXfrm>
        <a:off x="25245" y="3491194"/>
        <a:ext cx="5855691" cy="466650"/>
      </dsp:txXfrm>
    </dsp:sp>
    <dsp:sp modelId="{A7F5B7D7-A307-0940-9FC0-5449BE6AF107}">
      <dsp:nvSpPr>
        <dsp:cNvPr id="0" name=""/>
        <dsp:cNvSpPr/>
      </dsp:nvSpPr>
      <dsp:spPr>
        <a:xfrm>
          <a:off x="0" y="4020529"/>
          <a:ext cx="5906181" cy="517140"/>
        </a:xfrm>
        <a:prstGeom prst="roundRect">
          <a:avLst/>
        </a:prstGeom>
        <a:solidFill>
          <a:schemeClr val="accent2">
            <a:hueOff val="-1157951"/>
            <a:satOff val="1305"/>
            <a:lumOff val="30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Batch size:- 16</a:t>
          </a:r>
          <a:endParaRPr lang="en-US" sz="1300" kern="1200"/>
        </a:p>
      </dsp:txBody>
      <dsp:txXfrm>
        <a:off x="25245" y="4045774"/>
        <a:ext cx="5855691" cy="466650"/>
      </dsp:txXfrm>
    </dsp:sp>
    <dsp:sp modelId="{CC4C1734-57F7-904F-A273-4DD6705518CA}">
      <dsp:nvSpPr>
        <dsp:cNvPr id="0" name=""/>
        <dsp:cNvSpPr/>
      </dsp:nvSpPr>
      <dsp:spPr>
        <a:xfrm>
          <a:off x="0" y="4575109"/>
          <a:ext cx="5906181" cy="51714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Maximum token length :-</a:t>
          </a:r>
          <a:r>
            <a:rPr lang="en-US" sz="1300" kern="1200"/>
            <a:t>128 tokens (longer inputs truncated) </a:t>
          </a:r>
        </a:p>
      </dsp:txBody>
      <dsp:txXfrm>
        <a:off x="25245" y="4600354"/>
        <a:ext cx="5855691" cy="4666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72B87C-E91F-47A5-943F-853C8AACC99D}">
      <dsp:nvSpPr>
        <dsp:cNvPr id="0" name=""/>
        <dsp:cNvSpPr/>
      </dsp:nvSpPr>
      <dsp:spPr>
        <a:xfrm>
          <a:off x="0" y="165849"/>
          <a:ext cx="3714049" cy="22284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 Transfer Learning Implementation</a:t>
          </a:r>
          <a:br>
            <a:rPr lang="en-US" sz="1600" b="1" kern="1200"/>
          </a:br>
          <a:r>
            <a:rPr lang="en-US" sz="1600" b="1" kern="1200"/>
            <a:t> We will fine-tune the existing AventIQ-AI/BERT-Spam-Job-Posting-Detection</a:t>
          </a:r>
          <a:r>
            <a:rPr lang="en-US" sz="1600" kern="1200"/>
            <a:t> model using our </a:t>
          </a:r>
          <a:r>
            <a:rPr lang="en-US" sz="1600" b="1" kern="1200"/>
            <a:t>own scraped dataset</a:t>
          </a:r>
          <a:r>
            <a:rPr lang="en-US" sz="1600" kern="1200"/>
            <a:t>.</a:t>
          </a:r>
          <a:br>
            <a:rPr lang="en-US" sz="1600" kern="1200"/>
          </a:br>
          <a:r>
            <a:rPr lang="en-US" sz="1600" kern="1200"/>
            <a:t> This will help the model learn </a:t>
          </a:r>
          <a:r>
            <a:rPr lang="en-US" sz="1600" b="1" kern="1200"/>
            <a:t>local fraud patterns</a:t>
          </a:r>
          <a:r>
            <a:rPr lang="en-US" sz="1600" kern="1200"/>
            <a:t>, regional vocabulary, and current scam trends that were not in the original data.</a:t>
          </a:r>
        </a:p>
      </dsp:txBody>
      <dsp:txXfrm>
        <a:off x="0" y="165849"/>
        <a:ext cx="3714049" cy="2228429"/>
      </dsp:txXfrm>
    </dsp:sp>
    <dsp:sp modelId="{679DE0EF-6A30-49E1-8A98-7AF3B54685CB}">
      <dsp:nvSpPr>
        <dsp:cNvPr id="0" name=""/>
        <dsp:cNvSpPr/>
      </dsp:nvSpPr>
      <dsp:spPr>
        <a:xfrm>
          <a:off x="4085453" y="165849"/>
          <a:ext cx="3714049" cy="22284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 Continuous Retraining Pipeline</a:t>
          </a:r>
          <a:br>
            <a:rPr lang="en-US" sz="1600" b="1" kern="1200"/>
          </a:br>
          <a:r>
            <a:rPr lang="en-US" sz="1600" b="1" kern="1200"/>
            <a:t> Our web scraper will keep collecting new postings every week.</a:t>
          </a:r>
          <a:br>
            <a:rPr lang="en-US" sz="1600" b="1" kern="1200"/>
          </a:br>
          <a:r>
            <a:rPr lang="en-US" sz="1600" b="1" kern="1200"/>
            <a:t> These will be reviewed and used for incremental retraining</a:t>
          </a:r>
          <a:r>
            <a:rPr lang="en-US" sz="1600" kern="1200"/>
            <a:t>, allowing the model to adapt as new fraud techniques appear.</a:t>
          </a:r>
        </a:p>
      </dsp:txBody>
      <dsp:txXfrm>
        <a:off x="4085453" y="165849"/>
        <a:ext cx="3714049" cy="2228429"/>
      </dsp:txXfrm>
    </dsp:sp>
    <dsp:sp modelId="{939C6E32-D82E-45BB-9791-06F4B655972F}">
      <dsp:nvSpPr>
        <dsp:cNvPr id="0" name=""/>
        <dsp:cNvSpPr/>
      </dsp:nvSpPr>
      <dsp:spPr>
        <a:xfrm>
          <a:off x="8170907" y="165849"/>
          <a:ext cx="3714049" cy="22284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entury Gothic" panose="020B0502020202020204"/>
            </a:rPr>
            <a:t>Domain-Specific</a:t>
          </a:r>
          <a:r>
            <a:rPr lang="en-US" sz="1600" b="1" kern="1200"/>
            <a:t> Adaptation</a:t>
          </a:r>
          <a:br>
            <a:rPr lang="en-US" sz="1600" b="1" kern="1200"/>
          </a:br>
          <a:r>
            <a:rPr lang="en-US" sz="1600" b="1" kern="1200"/>
            <a:t> Focus on Indian and regional job markets—handling terms like “LPA,” “Walk-in,” or “Telegram HR.”</a:t>
          </a:r>
          <a:br>
            <a:rPr lang="en-US" sz="1600" b="1" kern="1200"/>
          </a:br>
          <a:r>
            <a:rPr lang="en-US" sz="1600" b="1" kern="1200"/>
            <a:t> This increases accuracy for real-world, localized job postings</a:t>
          </a:r>
          <a:r>
            <a:rPr lang="en-US" sz="1600" kern="1200"/>
            <a:t>.</a:t>
          </a:r>
        </a:p>
      </dsp:txBody>
      <dsp:txXfrm>
        <a:off x="8170907" y="165849"/>
        <a:ext cx="3714049" cy="2228429"/>
      </dsp:txXfrm>
    </dsp:sp>
    <dsp:sp modelId="{4441F544-9C7A-493A-9996-7A2442E00134}">
      <dsp:nvSpPr>
        <dsp:cNvPr id="0" name=""/>
        <dsp:cNvSpPr/>
      </dsp:nvSpPr>
      <dsp:spPr>
        <a:xfrm>
          <a:off x="0" y="2765683"/>
          <a:ext cx="3714049" cy="222842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entury Gothic" panose="020B0502020202020204"/>
            </a:rPr>
            <a:t>Optimization</a:t>
          </a:r>
          <a:r>
            <a:rPr lang="en-US" sz="1600" b="1" kern="1200"/>
            <a:t> and Evaluation</a:t>
          </a:r>
          <a:br>
            <a:rPr lang="en-US" sz="1600" b="1" kern="1200"/>
          </a:br>
          <a:r>
            <a:rPr lang="en-US" sz="1600" b="1" kern="1200"/>
            <a:t> We’ll test improvements like layer freezing</a:t>
          </a:r>
          <a:r>
            <a:rPr lang="en-US" sz="1600" kern="1200"/>
            <a:t>, </a:t>
          </a:r>
          <a:r>
            <a:rPr lang="en-US" sz="1600" b="1" kern="1200"/>
            <a:t>class-imbalance handling</a:t>
          </a:r>
          <a:r>
            <a:rPr lang="en-US" sz="1600" kern="1200"/>
            <a:t>, and </a:t>
          </a:r>
          <a:r>
            <a:rPr lang="en-US" sz="1600" b="1" kern="1200"/>
            <a:t>threshold tuning</a:t>
          </a:r>
          <a:r>
            <a:rPr lang="en-US" sz="1600" kern="1200"/>
            <a:t> to boost precision and reduce false positives.</a:t>
          </a:r>
          <a:endParaRPr lang="en-US" sz="1600" b="0" kern="1200">
            <a:latin typeface="Century Gothic" panose="020B0502020202020204"/>
          </a:endParaRPr>
        </a:p>
      </dsp:txBody>
      <dsp:txXfrm>
        <a:off x="0" y="2765683"/>
        <a:ext cx="3714049" cy="2228429"/>
      </dsp:txXfrm>
    </dsp:sp>
    <dsp:sp modelId="{039435EA-E9AE-4200-B01C-9980F5EF751A}">
      <dsp:nvSpPr>
        <dsp:cNvPr id="0" name=""/>
        <dsp:cNvSpPr/>
      </dsp:nvSpPr>
      <dsp:spPr>
        <a:xfrm>
          <a:off x="4085453" y="2765683"/>
          <a:ext cx="3714049" cy="222842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entury Gothic" panose="020B0502020202020204"/>
            </a:rPr>
            <a:t>⃣</a:t>
          </a:r>
          <a:r>
            <a:rPr lang="en-US" sz="1600" b="1" kern="1200"/>
            <a:t> Real-Time Integration</a:t>
          </a:r>
          <a:br>
            <a:rPr lang="en-US" sz="1600" b="1" kern="1200"/>
          </a:br>
          <a:r>
            <a:rPr lang="en-US" sz="1600" b="1" kern="1200"/>
            <a:t> Integrate the upgraded model into a live fraud-detection pipeline</a:t>
          </a:r>
          <a:r>
            <a:rPr lang="en-US" sz="1600" kern="1200"/>
            <a:t>:</a:t>
          </a:r>
        </a:p>
      </dsp:txBody>
      <dsp:txXfrm>
        <a:off x="4085453" y="2765683"/>
        <a:ext cx="3714049" cy="2228429"/>
      </dsp:txXfrm>
    </dsp:sp>
    <dsp:sp modelId="{514A4071-E8D9-4C27-B46C-E2B3EE7F0DF8}">
      <dsp:nvSpPr>
        <dsp:cNvPr id="0" name=""/>
        <dsp:cNvSpPr/>
      </dsp:nvSpPr>
      <dsp:spPr>
        <a:xfrm>
          <a:off x="8170907" y="2765683"/>
          <a:ext cx="3714049" cy="22284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Scraper → Preprocessing → BERT Model → Fraud Prediction → Dashboard/Alert</a:t>
          </a:r>
        </a:p>
      </dsp:txBody>
      <dsp:txXfrm>
        <a:off x="8170907" y="2765683"/>
        <a:ext cx="3714049" cy="2228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0332-A2F2-0C41-9A18-54241BDF2AF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04511-4023-294A-8FB6-85A0342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2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366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72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60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44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69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46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40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727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5753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4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47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62AA215-C1BA-4EA2-ACCC-2EB5E2441912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90B20DE-FD48-48FB-B469-8C34C4602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39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83026601_Real_or_Fake_Job_Posting_Detection" TargetMode="External"/><Relationship Id="rId2" Type="http://schemas.openxmlformats.org/officeDocument/2006/relationships/hyperlink" Target="https://link.springer.com/article/10.1007/s10791-025-09502-8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155825625000973?via%3Dihub" TargetMode="External"/><Relationship Id="rId2" Type="http://schemas.openxmlformats.org/officeDocument/2006/relationships/hyperlink" Target="https://www.tandfonline.com/doi/full/10.1080/24751839.2024.2387380?af=R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C23061-6B06-70E8-E028-6E889B11E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044" y="357832"/>
            <a:ext cx="11729093" cy="110190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Army Institute Of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99055-E37D-99DB-4009-FA4153E43DCC}"/>
              </a:ext>
            </a:extLst>
          </p:cNvPr>
          <p:cNvSpPr txBox="1"/>
          <p:nvPr/>
        </p:nvSpPr>
        <p:spPr>
          <a:xfrm>
            <a:off x="278046" y="1451949"/>
            <a:ext cx="11628238" cy="571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2400"/>
              <a:t>Department Of Information Technology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210A4-66E7-7E55-1D42-60B427610B0A}"/>
              </a:ext>
            </a:extLst>
          </p:cNvPr>
          <p:cNvSpPr txBox="1"/>
          <p:nvPr/>
        </p:nvSpPr>
        <p:spPr>
          <a:xfrm>
            <a:off x="272042" y="2247306"/>
            <a:ext cx="11732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/>
              <a:t>BE Project Review -II</a:t>
            </a:r>
            <a:endParaRPr lang="en-IN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B711A1-CBEE-52BA-5FFD-64194153FA30}"/>
              </a:ext>
            </a:extLst>
          </p:cNvPr>
          <p:cNvSpPr txBox="1"/>
          <p:nvPr/>
        </p:nvSpPr>
        <p:spPr>
          <a:xfrm>
            <a:off x="272543" y="3227569"/>
            <a:ext cx="1170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/>
              <a:t>Topic:- Fake job prediction using deep learning </a:t>
            </a:r>
            <a:endParaRPr lang="en-IN"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60181-0B91-9673-D6D5-4FE6B0D0BA48}"/>
              </a:ext>
            </a:extLst>
          </p:cNvPr>
          <p:cNvSpPr txBox="1"/>
          <p:nvPr/>
        </p:nvSpPr>
        <p:spPr>
          <a:xfrm>
            <a:off x="275327" y="4566537"/>
            <a:ext cx="2010487" cy="132343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/>
              <a:t>Name  :- </a:t>
            </a:r>
            <a:br>
              <a:rPr lang="en-US" sz="2000"/>
            </a:br>
            <a:r>
              <a:rPr lang="en-US" sz="2000"/>
              <a:t>    Piyush Raj</a:t>
            </a:r>
            <a:br>
              <a:rPr lang="en-US" sz="2000"/>
            </a:br>
            <a:r>
              <a:rPr lang="en-US" sz="2000"/>
              <a:t> Mohit Kumar</a:t>
            </a:r>
            <a:br>
              <a:rPr lang="en-US" sz="2000"/>
            </a:br>
            <a:r>
              <a:rPr lang="en-US" sz="2000"/>
              <a:t> Rohit Yadav</a:t>
            </a:r>
            <a:endParaRPr lang="en-IN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9F62F0-19B1-E78A-6421-57E4C132E3FC}"/>
              </a:ext>
            </a:extLst>
          </p:cNvPr>
          <p:cNvSpPr txBox="1"/>
          <p:nvPr/>
        </p:nvSpPr>
        <p:spPr>
          <a:xfrm>
            <a:off x="8150942" y="4552335"/>
            <a:ext cx="3280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/>
              <a:t>Guide :- Prof. Geeta Patil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46555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0E0A-516B-8C19-062C-9EB140560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 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6636EB-A276-AC18-E2DF-49A2F7FE1B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2132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32F73EB-B46F-4F77-B3DC-7C374906F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DB10B3-CF45-4294-8994-0E8AD1FC6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45417F-1D1B-48A7-B4DA-BAD73B02C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CF9D9F-1672-4D0C-934E-CD9EE1BE5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558C702-CA14-4264-B8FC-A5120F75D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621A72C-7343-4A22-8700-696C5860A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44A4DC-7861-4DCC-9931-5A075855D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16C316F-BFB5-424F-A951-E962A3B74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B66F8A2C-B8CF-4B20-9A73-2ADCF6302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0C23B1-7427-4DF4-BFF1-60CD7E93B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5DD78E9-DE0D-47AF-A0DB-F475221E3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118D329-2010-4A15-B57C-429FFAE3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368E6-EF27-586A-864D-E470B008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520" y="1272800"/>
            <a:ext cx="6544620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3000"/>
              </a:lnSpc>
            </a:pPr>
            <a:r>
              <a:rPr lang="en-US" sz="6800" u="sng" cap="all" spc="-100">
                <a:solidFill>
                  <a:schemeClr val="tx1"/>
                </a:solidFill>
              </a:rPr>
              <a:t>LITERATURE SURVEY </a:t>
            </a:r>
            <a:endParaRPr lang="en-US" sz="6800" cap="all" spc="-100">
              <a:solidFill>
                <a:schemeClr val="tx1"/>
              </a:solidFill>
            </a:endParaRPr>
          </a:p>
          <a:p>
            <a:pPr algn="r">
              <a:lnSpc>
                <a:spcPct val="83000"/>
              </a:lnSpc>
            </a:pPr>
            <a:endParaRPr lang="en-US" sz="6800" cap="all" spc="-1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E974A-5B8A-483C-477A-D7A3EC96C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3440" y="1272800"/>
            <a:ext cx="2481307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spc="80"/>
              <a:t>      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94262BC-EE98-4BD6-82DB-4955E8DC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2" y="2057401"/>
            <a:ext cx="0" cy="27432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94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1CCF77B9-7652-40A8-81CB-C3B2AD103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482103"/>
              </p:ext>
            </p:extLst>
          </p:nvPr>
        </p:nvGraphicFramePr>
        <p:xfrm>
          <a:off x="-108156" y="-1"/>
          <a:ext cx="12300156" cy="8509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080">
                  <a:extLst>
                    <a:ext uri="{9D8B030D-6E8A-4147-A177-3AD203B41FA5}">
                      <a16:colId xmlns:a16="http://schemas.microsoft.com/office/drawing/2014/main" val="1604472956"/>
                    </a:ext>
                  </a:extLst>
                </a:gridCol>
                <a:gridCol w="2139157">
                  <a:extLst>
                    <a:ext uri="{9D8B030D-6E8A-4147-A177-3AD203B41FA5}">
                      <a16:colId xmlns:a16="http://schemas.microsoft.com/office/drawing/2014/main" val="379935522"/>
                    </a:ext>
                  </a:extLst>
                </a:gridCol>
                <a:gridCol w="2020316">
                  <a:extLst>
                    <a:ext uri="{9D8B030D-6E8A-4147-A177-3AD203B41FA5}">
                      <a16:colId xmlns:a16="http://schemas.microsoft.com/office/drawing/2014/main" val="3330681966"/>
                    </a:ext>
                  </a:extLst>
                </a:gridCol>
                <a:gridCol w="2619522">
                  <a:extLst>
                    <a:ext uri="{9D8B030D-6E8A-4147-A177-3AD203B41FA5}">
                      <a16:colId xmlns:a16="http://schemas.microsoft.com/office/drawing/2014/main" val="414082673"/>
                    </a:ext>
                  </a:extLst>
                </a:gridCol>
                <a:gridCol w="2098505">
                  <a:extLst>
                    <a:ext uri="{9D8B030D-6E8A-4147-A177-3AD203B41FA5}">
                      <a16:colId xmlns:a16="http://schemas.microsoft.com/office/drawing/2014/main" val="3381115417"/>
                    </a:ext>
                  </a:extLst>
                </a:gridCol>
                <a:gridCol w="2917576">
                  <a:extLst>
                    <a:ext uri="{9D8B030D-6E8A-4147-A177-3AD203B41FA5}">
                      <a16:colId xmlns:a16="http://schemas.microsoft.com/office/drawing/2014/main" val="667653781"/>
                    </a:ext>
                  </a:extLst>
                </a:gridCol>
              </a:tblGrid>
              <a:tr h="599769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Sr.No</a:t>
                      </a:r>
                      <a:endParaRPr lang="en-US" sz="14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Paper Name/title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Source</a:t>
                      </a:r>
                      <a:r>
                        <a:rPr lang="en-US" sz="1400" baseline="0"/>
                        <a:t> of paper/Year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Future Scope/shortcomings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421812"/>
                  </a:ext>
                </a:extLst>
              </a:tr>
              <a:tr h="2891105">
                <a:tc>
                  <a:txBody>
                    <a:bodyPr/>
                    <a:lstStyle/>
                    <a:p>
                      <a:r>
                        <a:rPr lang="en-US" sz="130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or Fake Job Posting Detection</a:t>
                      </a:r>
                    </a:p>
                    <a:p>
                      <a:pPr lvl="0">
                        <a:buNone/>
                      </a:pPr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Dataset </a:t>
                      </a: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:- Employment Scam Aegean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Research Journal on Advanced Engineering and Management, 2024</a:t>
                      </a:r>
                    </a:p>
                    <a:p>
                      <a:endParaRPr lang="en-US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Link</a:t>
                      </a:r>
                      <a:endParaRPr lang="en-US" sz="1600" b="1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 machine learning classifiers (KNN, SVM, Random Forest, Logistic Regression, Naive Bayes, AdaBoost) with NLP preprocessing on Kaggle dataset.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Includes EDA, data augmentation, and multi-class classification.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Explore advanced ML models and larger datasets.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data imbalance, scalability, and maintenance issues.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 b="1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achieved 97.2% accuracy.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Effective in classifying real/fake jobs; thorough EDA and preprocessing improved results.</a:t>
                      </a:r>
                    </a:p>
                    <a:p>
                      <a:endParaRPr lang="en-US" sz="13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88320"/>
                  </a:ext>
                </a:extLst>
              </a:tr>
              <a:tr h="3086083">
                <a:tc>
                  <a:txBody>
                    <a:bodyPr/>
                    <a:lstStyle/>
                    <a:p>
                      <a:r>
                        <a:rPr lang="en-US" sz="130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Fraud-BERT: Transformer based context aware online recruitment fraud detection</a:t>
                      </a:r>
                    </a:p>
                    <a:p>
                      <a:pPr lvl="0">
                        <a:buNone/>
                      </a:pPr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Trebuchet MS"/>
                        </a:rPr>
                        <a:t>Dataset 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Trebuchet MS"/>
                        </a:rPr>
                        <a:t>:- Employment Scam Aegean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Discover Computing, 2025</a:t>
                      </a:r>
                    </a:p>
                    <a:p>
                      <a:endParaRPr lang="en-IN" sz="16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6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6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6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Link</a:t>
                      </a:r>
                      <a:endParaRPr lang="en-US" sz="1600" b="1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BERT-based transfer learning fine-tuned on Kaggle imbalanced fake job dataset.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Compared with baseline ML (RF, NB, SVM, LR) and DL (Bi-LSTM) models.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computational overhead and sequence length limits.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Explore efficient BERT variants (DistilBERT, XLNET) and address ethical concerns.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429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Fraud-BERT outperforms baselines with 97% accuracy and 0.93 F1-score.</a:t>
                      </a:r>
                    </a:p>
                    <a:p>
                      <a:pPr marL="742950" lvl="1" indent="-285750" algn="l">
                        <a:buFont typeface="Arial" panose="020B0604020202020204" pitchFamily="34" charset="0"/>
                        <a:buChar char="•"/>
                      </a:pP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Handles imbalance without resampling; robust for contextual fraud detection.</a:t>
                      </a:r>
                    </a:p>
                    <a:p>
                      <a:br>
                        <a:rPr lang="en-US"/>
                      </a:br>
                      <a:endParaRPr lang="en-US" sz="13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314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62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1CCF77B9-7652-40A8-81CB-C3B2AD103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99510"/>
              </p:ext>
            </p:extLst>
          </p:nvPr>
        </p:nvGraphicFramePr>
        <p:xfrm>
          <a:off x="0" y="15648"/>
          <a:ext cx="12191992" cy="7324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608">
                  <a:extLst>
                    <a:ext uri="{9D8B030D-6E8A-4147-A177-3AD203B41FA5}">
                      <a16:colId xmlns:a16="http://schemas.microsoft.com/office/drawing/2014/main" val="1604472956"/>
                    </a:ext>
                  </a:extLst>
                </a:gridCol>
                <a:gridCol w="2562370">
                  <a:extLst>
                    <a:ext uri="{9D8B030D-6E8A-4147-A177-3AD203B41FA5}">
                      <a16:colId xmlns:a16="http://schemas.microsoft.com/office/drawing/2014/main" val="379935522"/>
                    </a:ext>
                  </a:extLst>
                </a:gridCol>
                <a:gridCol w="1386348">
                  <a:extLst>
                    <a:ext uri="{9D8B030D-6E8A-4147-A177-3AD203B41FA5}">
                      <a16:colId xmlns:a16="http://schemas.microsoft.com/office/drawing/2014/main" val="3330681966"/>
                    </a:ext>
                  </a:extLst>
                </a:gridCol>
                <a:gridCol w="2502902">
                  <a:extLst>
                    <a:ext uri="{9D8B030D-6E8A-4147-A177-3AD203B41FA5}">
                      <a16:colId xmlns:a16="http://schemas.microsoft.com/office/drawing/2014/main" val="414082673"/>
                    </a:ext>
                  </a:extLst>
                </a:gridCol>
                <a:gridCol w="2181179">
                  <a:extLst>
                    <a:ext uri="{9D8B030D-6E8A-4147-A177-3AD203B41FA5}">
                      <a16:colId xmlns:a16="http://schemas.microsoft.com/office/drawing/2014/main" val="3381115417"/>
                    </a:ext>
                  </a:extLst>
                </a:gridCol>
                <a:gridCol w="2896585">
                  <a:extLst>
                    <a:ext uri="{9D8B030D-6E8A-4147-A177-3AD203B41FA5}">
                      <a16:colId xmlns:a16="http://schemas.microsoft.com/office/drawing/2014/main" val="667653781"/>
                    </a:ext>
                  </a:extLst>
                </a:gridCol>
              </a:tblGrid>
              <a:tr h="797442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Sr.No</a:t>
                      </a:r>
                      <a:endParaRPr lang="en-US" sz="14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Paper Name/title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Source</a:t>
                      </a:r>
                      <a:r>
                        <a:rPr lang="en-US" sz="1400" baseline="0"/>
                        <a:t> of paper/Year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Future Scope/shortcomings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421812"/>
                  </a:ext>
                </a:extLst>
              </a:tr>
              <a:tr h="3175369">
                <a:tc>
                  <a:txBody>
                    <a:bodyPr/>
                    <a:lstStyle/>
                    <a:p>
                      <a:r>
                        <a:rPr lang="en-US" sz="130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Improving fake job description detection using deep learning-based NLP techniques</a:t>
                      </a:r>
                    </a:p>
                    <a:p>
                      <a:pPr lvl="0">
                        <a:buNone/>
                      </a:pPr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Trebuchet MS"/>
                        </a:rPr>
                        <a:t>Dataset 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Trebuchet MS"/>
                        </a:rPr>
                        <a:t>:- Employment Scam Aegean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Journal of Information and Telecommunication, 2025</a:t>
                      </a:r>
                    </a:p>
                    <a:p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LINK</a:t>
                      </a:r>
                      <a:endParaRPr lang="en-US" sz="1400" b="1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NLP2FJD framework using Word2Vec embeddings, CNN, BoW, meta-feature extraction.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Combined in deep learning model for imbalanced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 online learning models and multilingual extension.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Customize ML models for different languages.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NLP2FJD outperforms baselines with 96% accuracy and 0.93 recall.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 in handling imbalanced data via embeddings and meta-features.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88320"/>
                  </a:ext>
                </a:extLst>
              </a:tr>
              <a:tr h="2869541">
                <a:tc>
                  <a:txBody>
                    <a:bodyPr/>
                    <a:lstStyle/>
                    <a:p>
                      <a:r>
                        <a:rPr lang="en-US" sz="130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Detecting Fake Job Postings Using Bidirectional LSTM</a:t>
                      </a:r>
                    </a:p>
                    <a:p>
                      <a:pPr lvl="0">
                        <a:buNone/>
                      </a:pPr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Trebuchet MS"/>
                        </a:rPr>
                        <a:t>Dataset </a:t>
                      </a: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Trebuchet MS"/>
                        </a:rPr>
                        <a:t>:- Employment Scam Aegean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Research Journal of Modernization in Engineering Technology and Science, 2023</a:t>
                      </a:r>
                    </a:p>
                    <a:p>
                      <a:endParaRPr lang="en-US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Link</a:t>
                      </a:r>
                      <a:endParaRPr lang="en-US" sz="1600" b="1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Bidirectional LSTM deep learning model with text and numeric features.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Compared with ensemble models (Random Forest, LightGBM, GBM).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class </a:t>
                      </a:r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imbalance and improve transfer learning.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Enhance explainability and consider ethical concerns.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Bi-LSTM achieved 98.71% accuracy and 0.91 ROC-AUC.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Outperforms ensemble models; effective for sequential text patterns.</a:t>
                      </a:r>
                    </a:p>
                    <a:p>
                      <a:endParaRPr lang="en-US" sz="13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314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05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6C66-5099-4A9A-F913-948D3EE8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087" y="796446"/>
            <a:ext cx="10515600" cy="1325563"/>
          </a:xfrm>
        </p:spPr>
        <p:txBody>
          <a:bodyPr/>
          <a:lstStyle/>
          <a:p>
            <a:r>
              <a:rPr lang="en-US" sz="3600" b="1" u="sng">
                <a:latin typeface="Arial"/>
                <a:cs typeface="Arial"/>
              </a:rPr>
              <a:t>LITERATURE SURVEY SUMMARY</a:t>
            </a:r>
            <a:endParaRPr lang="en-US" sz="3600"/>
          </a:p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3A2412A-1801-D002-C3D9-2D45FC7EE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    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D2E761E-BFF1-0CA3-629F-1878D9AA9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39758"/>
              </p:ext>
            </p:extLst>
          </p:nvPr>
        </p:nvGraphicFramePr>
        <p:xfrm>
          <a:off x="777069" y="1464971"/>
          <a:ext cx="10839143" cy="51357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9786">
                  <a:extLst>
                    <a:ext uri="{9D8B030D-6E8A-4147-A177-3AD203B41FA5}">
                      <a16:colId xmlns:a16="http://schemas.microsoft.com/office/drawing/2014/main" val="4149163154"/>
                    </a:ext>
                  </a:extLst>
                </a:gridCol>
                <a:gridCol w="2748642">
                  <a:extLst>
                    <a:ext uri="{9D8B030D-6E8A-4147-A177-3AD203B41FA5}">
                      <a16:colId xmlns:a16="http://schemas.microsoft.com/office/drawing/2014/main" val="2608398784"/>
                    </a:ext>
                  </a:extLst>
                </a:gridCol>
                <a:gridCol w="2670929">
                  <a:extLst>
                    <a:ext uri="{9D8B030D-6E8A-4147-A177-3AD203B41FA5}">
                      <a16:colId xmlns:a16="http://schemas.microsoft.com/office/drawing/2014/main" val="3417111090"/>
                    </a:ext>
                  </a:extLst>
                </a:gridCol>
                <a:gridCol w="2709786">
                  <a:extLst>
                    <a:ext uri="{9D8B030D-6E8A-4147-A177-3AD203B41FA5}">
                      <a16:colId xmlns:a16="http://schemas.microsoft.com/office/drawing/2014/main" val="3802868261"/>
                    </a:ext>
                  </a:extLst>
                </a:gridCol>
              </a:tblGrid>
              <a:tr h="308915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APPROACH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PROS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CONS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BEST FIT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396158"/>
                  </a:ext>
                </a:extLst>
              </a:tr>
              <a:tr h="965368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Traditional ML Classifiers (KNN, SVM, Random Forest, Logistic Regression, Naive Bayes, AdaBoost)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Simple, interpretable, fast training and evaluation; effective on structured data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Limited contextual understanding; manual feature engineering required; sensitive to data imbalance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Baseline models for comparison and rapid prototyping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867631"/>
                  </a:ext>
                </a:extLst>
              </a:tr>
              <a:tr h="965368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Transformer-based (Fraud-BERT)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Context-aware representation, high accuracy and F1-score; handles semantic nuances in text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High computational cost, large memory requirements; limited sequence length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Enterprise-scale fraud detection needing contextual understanding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898121"/>
                  </a:ext>
                </a:extLst>
              </a:tr>
              <a:tr h="965368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Deep Learning (NLP2FJD: CNN + Word2Vec + Meta-Features)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Automatically learns features, effective for imbalanced data; captures semantic and syntactic patterns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Requires large datasets, slower training; limited explainability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Text-heavy domains requiring automated feature extraction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329939"/>
                  </a:ext>
                </a:extLst>
              </a:tr>
              <a:tr h="965368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Bidirectional LSTM (Bi-LSTM)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Captures long-term dependencies in text; high accuracy and ROC-AUC; strong sequence modeling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High training time, complex tuning; less interpretable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Sequential fraud detection tasks and text-based anomaly detection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359113"/>
                  </a:ext>
                </a:extLst>
              </a:tr>
              <a:tr h="965368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</a:rPr>
                        <a:t>Ensemble + Hybrid Deep Learning (e.g., CNN-LSTM with EDA &amp; Augmentation)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Combines strengths of multiple models; improves robustness and generalization; mitigates overfitting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Computationally intensive; requires careful balancing and preprocessing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400">
                          <a:effectLst/>
                          <a:latin typeface="Aptos" panose="020B0004020202020204" pitchFamily="34" charset="0"/>
                        </a:rPr>
                        <a:t>Scenarios demanding high accuracy and reliability across diverse job posting data</a:t>
                      </a:r>
                      <a:endParaRPr lang="en-US">
                        <a:effectLst/>
                      </a:endParaRPr>
                    </a:p>
                  </a:txBody>
                  <a:tcPr marL="67666" marR="67666" marT="33833" marB="338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014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484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82411-8FFD-1F74-5FA3-CDF98AF56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b="1" u="sng"/>
              <a:t>Solution Innovation</a:t>
            </a:r>
            <a:endParaRPr lang="en-US" u="sng"/>
          </a:p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6E001F-B523-15B6-0EE0-1492E41616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32727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581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E5E1-C2D0-2AB3-AB7E-0BC73679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   </a:t>
            </a:r>
          </a:p>
        </p:txBody>
      </p:sp>
      <p:pic>
        <p:nvPicPr>
          <p:cNvPr id="4" name="Content Placeholder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D70AED6-52B9-B55D-8420-D225BCEA3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552" y="499461"/>
            <a:ext cx="7353300" cy="1066800"/>
          </a:xfrm>
          <a:prstGeom prst="rect">
            <a:avLst/>
          </a:prstGeom>
        </p:spPr>
      </p:pic>
      <p:pic>
        <p:nvPicPr>
          <p:cNvPr id="3" name="Picture 2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39CF27D5-F940-0705-7281-1C05825CA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1" y="1710905"/>
            <a:ext cx="7339641" cy="480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4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021A-7231-E20D-8DAB-70B8D11D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9502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Key Modules of the System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3C4B3-0510-FB6E-E913-7CC3F026D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6660"/>
            <a:ext cx="10515600" cy="473952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1600">
              <a:solidFill>
                <a:srgbClr val="0F1115"/>
              </a:solidFill>
            </a:endParaRPr>
          </a:p>
          <a:p>
            <a:pPr>
              <a:buNone/>
            </a:pPr>
            <a:r>
              <a:rPr lang="en-US" sz="1600"/>
              <a:t> </a:t>
            </a:r>
            <a:r>
              <a:rPr lang="en-US" sz="1600" b="1"/>
              <a:t>1. Data Collection Module</a:t>
            </a:r>
            <a:endParaRPr lang="en-US" sz="1600"/>
          </a:p>
          <a:p>
            <a:pPr>
              <a:buNone/>
            </a:pPr>
            <a:r>
              <a:rPr lang="en-US" sz="1600" b="1">
                <a:solidFill>
                  <a:srgbClr val="0F1115"/>
                </a:solidFill>
                <a:ea typeface="+mn-lt"/>
                <a:cs typeface="+mn-lt"/>
              </a:rPr>
              <a:t>Goal:</a:t>
            </a:r>
            <a:r>
              <a:rPr lang="en-US" sz="1600">
                <a:solidFill>
                  <a:srgbClr val="0F1115"/>
                </a:solidFill>
                <a:ea typeface="+mn-lt"/>
                <a:cs typeface="+mn-lt"/>
              </a:rPr>
              <a:t> Gather and organize real-world job postings for analysis.</a:t>
            </a:r>
            <a:endParaRPr lang="en-US" sz="1600">
              <a:ea typeface="+mn-lt"/>
              <a:cs typeface="+mn-lt"/>
            </a:endParaRPr>
          </a:p>
          <a:p>
            <a:pPr>
              <a:buNone/>
            </a:pPr>
            <a:r>
              <a:rPr lang="en-US" sz="1600" b="1">
                <a:solidFill>
                  <a:srgbClr val="0F1115"/>
                </a:solidFill>
                <a:ea typeface="+mn-lt"/>
                <a:cs typeface="+mn-lt"/>
              </a:rPr>
              <a:t>Steps:</a:t>
            </a:r>
            <a:endParaRPr lang="en-US" sz="160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buFont typeface="Garamond"/>
            </a:pPr>
            <a:r>
              <a:rPr lang="en-US" sz="1600" b="1">
                <a:solidFill>
                  <a:srgbClr val="0F1115"/>
                </a:solidFill>
                <a:ea typeface="+mn-lt"/>
                <a:cs typeface="+mn-lt"/>
              </a:rPr>
              <a:t>Fetch Job Listings:</a:t>
            </a:r>
            <a:endParaRPr lang="en-US" sz="1600"/>
          </a:p>
          <a:p>
            <a:pPr marL="742950" lvl="1" indent="-285750">
              <a:buClr>
                <a:srgbClr val="262626"/>
              </a:buClr>
              <a:buFont typeface="Garamond"/>
            </a:pP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Use </a:t>
            </a:r>
            <a:r>
              <a:rPr lang="en-US" b="1">
                <a:solidFill>
                  <a:srgbClr val="0F1115"/>
                </a:solidFill>
                <a:ea typeface="+mn-lt"/>
                <a:cs typeface="+mn-lt"/>
              </a:rPr>
              <a:t>LinkedIn API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 to collect real job postings (title, description, company info, etc.).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Clr>
                <a:srgbClr val="262626"/>
              </a:buClr>
              <a:buFont typeface="Garamond"/>
            </a:pP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Use </a:t>
            </a:r>
            <a:r>
              <a:rPr lang="en-US" b="1" err="1">
                <a:solidFill>
                  <a:srgbClr val="0F1115"/>
                </a:solidFill>
                <a:ea typeface="+mn-lt"/>
                <a:cs typeface="+mn-lt"/>
              </a:rPr>
              <a:t>SerpAPI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 to gather additional listings from other job platforms.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  <a:buFont typeface="Garamond"/>
            </a:pPr>
            <a:r>
              <a:rPr lang="en-US" sz="1600" b="1">
                <a:solidFill>
                  <a:srgbClr val="0F1115"/>
                </a:solidFill>
                <a:ea typeface="+mn-lt"/>
                <a:cs typeface="+mn-lt"/>
              </a:rPr>
              <a:t>Store Data:</a:t>
            </a:r>
            <a:endParaRPr lang="en-US" sz="1600"/>
          </a:p>
          <a:p>
            <a:pPr marL="742950" lvl="1" indent="-285750">
              <a:buClr>
                <a:srgbClr val="262626"/>
              </a:buClr>
              <a:buFont typeface="Garamond"/>
            </a:pP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Save all collected data into a </a:t>
            </a:r>
            <a:r>
              <a:rPr lang="en-US" b="1">
                <a:solidFill>
                  <a:srgbClr val="0F1115"/>
                </a:solidFill>
                <a:ea typeface="+mn-lt"/>
                <a:cs typeface="+mn-lt"/>
              </a:rPr>
              <a:t>CSV file or database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 for consistency.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  <a:buFont typeface="Garamond"/>
            </a:pPr>
            <a:r>
              <a:rPr lang="en-US" sz="1600" b="1">
                <a:solidFill>
                  <a:srgbClr val="0F1115"/>
                </a:solidFill>
                <a:ea typeface="+mn-lt"/>
                <a:cs typeface="+mn-lt"/>
              </a:rPr>
              <a:t>Label Dataset:</a:t>
            </a:r>
            <a:endParaRPr lang="en-US" sz="1600"/>
          </a:p>
          <a:p>
            <a:pPr marL="742950" lvl="1" indent="-285750">
              <a:buClr>
                <a:srgbClr val="262626"/>
              </a:buClr>
              <a:buFont typeface="Garamond"/>
            </a:pP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Mark each job as </a:t>
            </a:r>
            <a:r>
              <a:rPr lang="en-US" b="1">
                <a:solidFill>
                  <a:srgbClr val="0F1115"/>
                </a:solidFill>
                <a:ea typeface="+mn-lt"/>
                <a:cs typeface="+mn-lt"/>
              </a:rPr>
              <a:t>“Real (0)”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 or </a:t>
            </a:r>
            <a:r>
              <a:rPr lang="en-US" b="1">
                <a:solidFill>
                  <a:srgbClr val="0F1115"/>
                </a:solidFill>
                <a:ea typeface="+mn-lt"/>
                <a:cs typeface="+mn-lt"/>
              </a:rPr>
              <a:t>“Fake (1)”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 using verified datasets like </a:t>
            </a:r>
            <a:r>
              <a:rPr lang="en-US" i="1">
                <a:solidFill>
                  <a:srgbClr val="0F1115"/>
                </a:solidFill>
                <a:ea typeface="+mn-lt"/>
                <a:cs typeface="+mn-lt"/>
              </a:rPr>
              <a:t>Fake Job Posting Dataset (Kaggle)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 or known ground truth.</a:t>
            </a:r>
            <a:endParaRPr lang="en-US"/>
          </a:p>
          <a:p>
            <a:pPr>
              <a:buClr>
                <a:srgbClr val="262626"/>
              </a:buClr>
              <a:buFont typeface="Garamond"/>
            </a:pPr>
            <a:r>
              <a:rPr lang="en-US" sz="1600" b="1">
                <a:solidFill>
                  <a:srgbClr val="0F1115"/>
                </a:solidFill>
                <a:ea typeface="+mn-lt"/>
                <a:cs typeface="+mn-lt"/>
              </a:rPr>
              <a:t>Attributes Captured:</a:t>
            </a:r>
            <a:endParaRPr lang="en-US" sz="1600"/>
          </a:p>
          <a:p>
            <a:pPr marL="742950" lvl="1" indent="-285750">
              <a:buClr>
                <a:srgbClr val="262626"/>
              </a:buClr>
              <a:buFont typeface="Garamond"/>
            </a:pPr>
            <a:r>
              <a:rPr lang="en-US" err="1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job_title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location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industry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salary_range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company_profile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,</a:t>
            </a:r>
            <a:endParaRPr lang="en-US"/>
          </a:p>
          <a:p>
            <a:pPr lvl="1" indent="0">
              <a:buNone/>
            </a:pP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job_desc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skills_desc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employment_type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fraudulent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, and combined </a:t>
            </a:r>
            <a:r>
              <a:rPr lang="en-US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text</a:t>
            </a:r>
            <a:r>
              <a:rPr lang="en-US">
                <a:solidFill>
                  <a:srgbClr val="0F1115"/>
                </a:solidFill>
                <a:ea typeface="+mn-lt"/>
                <a:cs typeface="+mn-lt"/>
              </a:rPr>
              <a:t>.</a:t>
            </a:r>
            <a:endParaRPr lang="en-US"/>
          </a:p>
          <a:p>
            <a:pPr lvl="1">
              <a:buNone/>
            </a:pPr>
            <a:endParaRPr lang="en-US" sz="1400"/>
          </a:p>
          <a:p>
            <a:pPr lvl="1">
              <a:buNone/>
            </a:pPr>
            <a:endParaRPr lang="en-US" sz="1400"/>
          </a:p>
          <a:p>
            <a:pPr lvl="1">
              <a:buNone/>
            </a:pPr>
            <a:endParaRPr lang="en-US" sz="1400">
              <a:solidFill>
                <a:srgbClr val="0F1115"/>
              </a:solidFill>
              <a:ea typeface="+mn-lt"/>
              <a:cs typeface="+mn-lt"/>
            </a:endParaRPr>
          </a:p>
          <a:p>
            <a:pPr indent="0">
              <a:buNone/>
            </a:pPr>
            <a:endParaRPr lang="en-US" sz="1600"/>
          </a:p>
          <a:p>
            <a:pPr>
              <a:buNone/>
            </a:pPr>
            <a:endParaRPr lang="en-US" sz="1600"/>
          </a:p>
          <a:p>
            <a:pPr>
              <a:buNone/>
            </a:pPr>
            <a:endParaRPr lang="en-US" sz="1600" b="1">
              <a:solidFill>
                <a:srgbClr val="0F1115"/>
              </a:solidFill>
            </a:endParaRPr>
          </a:p>
          <a:p>
            <a:pPr>
              <a:buNone/>
            </a:pPr>
            <a:endParaRPr lang="en-US" sz="1600">
              <a:solidFill>
                <a:srgbClr val="0F111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884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8C730-7984-ECA5-9FBF-FDA8F3F7A974}"/>
              </a:ext>
            </a:extLst>
          </p:cNvPr>
          <p:cNvSpPr txBox="1"/>
          <p:nvPr/>
        </p:nvSpPr>
        <p:spPr>
          <a:xfrm>
            <a:off x="531961" y="567906"/>
            <a:ext cx="9958753" cy="55835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indent="-182880">
              <a:spcBef>
                <a:spcPts val="500"/>
              </a:spcBef>
            </a:pPr>
            <a:r>
              <a:rPr lang="en-US" sz="1400" b="1" u="sng">
                <a:cs typeface="Segoe UI"/>
              </a:rPr>
              <a:t>2. AI Processing Engine</a:t>
            </a:r>
            <a:endParaRPr lang="en-US" sz="1400" u="sng">
              <a:solidFill>
                <a:srgbClr val="000000"/>
              </a:solidFill>
              <a:cs typeface="Segoe UI"/>
            </a:endParaRPr>
          </a:p>
          <a:p>
            <a:pPr lvl="1" indent="-182880">
              <a:spcBef>
                <a:spcPts val="500"/>
              </a:spcBef>
            </a:pPr>
            <a:endParaRPr lang="en-US" sz="1400" b="1">
              <a:solidFill>
                <a:srgbClr val="0F1115"/>
              </a:solidFill>
              <a:cs typeface="Segoe UI"/>
            </a:endParaRPr>
          </a:p>
          <a:p>
            <a:pPr lvl="1" indent="-182880">
              <a:spcBef>
                <a:spcPts val="500"/>
              </a:spcBef>
            </a:pPr>
            <a:r>
              <a:rPr lang="en-US" sz="1400" b="1">
                <a:solidFill>
                  <a:srgbClr val="0F1115"/>
                </a:solidFill>
                <a:cs typeface="Segoe UI"/>
              </a:rPr>
              <a:t>Goal:</a:t>
            </a:r>
            <a:r>
              <a:rPr lang="en-US" sz="1400">
                <a:solidFill>
                  <a:srgbClr val="0F1115"/>
                </a:solidFill>
                <a:cs typeface="Segoe UI"/>
              </a:rPr>
              <a:t> Analyze text and detect fake job postings using NLP and ML.</a:t>
            </a:r>
            <a:endParaRPr lang="en-US" sz="1400">
              <a:cs typeface="Segoe UI"/>
            </a:endParaRPr>
          </a:p>
          <a:p>
            <a:pPr lvl="1" indent="-182880">
              <a:spcBef>
                <a:spcPts val="500"/>
              </a:spcBef>
            </a:pPr>
            <a:r>
              <a:rPr lang="en-US" sz="1400" b="1">
                <a:solidFill>
                  <a:srgbClr val="0F1115"/>
                </a:solidFill>
              </a:rPr>
              <a:t>Steps:</a:t>
            </a:r>
            <a:endParaRPr lang="en-US" sz="1400"/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>
                <a:solidFill>
                  <a:srgbClr val="0F1115"/>
                </a:solidFill>
                <a:cs typeface="Segoe UI"/>
              </a:rPr>
              <a:t>Preprocessing:</a:t>
            </a:r>
            <a:endParaRPr lang="en-US" sz="1400">
              <a:solidFill>
                <a:srgbClr val="0F1115"/>
              </a:solidFill>
              <a:cs typeface="Segoe UI"/>
            </a:endParaRPr>
          </a:p>
          <a:p>
            <a:pPr marL="742950" lvl="1" indent="-285750"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0F1115"/>
                </a:solidFill>
                <a:cs typeface="Arial"/>
              </a:rPr>
              <a:t>Clean text (remove HTML tags, stop words, special characters).</a:t>
            </a:r>
            <a:endParaRPr lang="en-US" sz="1400">
              <a:solidFill>
                <a:srgbClr val="000000"/>
              </a:solidFill>
              <a:cs typeface="Arial"/>
            </a:endParaRPr>
          </a:p>
          <a:p>
            <a:pPr marL="742950" lvl="1" indent="-285750">
              <a:spcBef>
                <a:spcPts val="500"/>
              </a:spcBef>
              <a:buFont typeface="Garamond,Serif"/>
              <a:buChar char="◦"/>
            </a:pPr>
            <a:r>
              <a:rPr lang="en-US" sz="1400">
                <a:solidFill>
                  <a:srgbClr val="0F1115"/>
                </a:solidFill>
                <a:cs typeface="Arial"/>
              </a:rPr>
              <a:t>Standardize formats and combine text fields.</a:t>
            </a:r>
            <a:endParaRPr lang="en-US" sz="1400">
              <a:cs typeface="Arial"/>
            </a:endParaRPr>
          </a:p>
          <a:p>
            <a:pPr marL="285750" indent="-285750">
              <a:spcBef>
                <a:spcPts val="900"/>
              </a:spcBef>
              <a:buFont typeface="Garamond,Serif"/>
              <a:buChar char="◦"/>
            </a:pPr>
            <a:r>
              <a:rPr lang="en-US" sz="1400" b="1">
                <a:solidFill>
                  <a:srgbClr val="0F1115"/>
                </a:solidFill>
                <a:cs typeface="Arial"/>
              </a:rPr>
              <a:t>Feature Extraction:</a:t>
            </a:r>
            <a:endParaRPr lang="en-US" sz="1400">
              <a:solidFill>
                <a:srgbClr val="000000"/>
              </a:solidFill>
              <a:cs typeface="Arial"/>
            </a:endParaRPr>
          </a:p>
          <a:p>
            <a:pPr marL="742950" lvl="1" indent="-285750">
              <a:spcBef>
                <a:spcPts val="500"/>
              </a:spcBef>
              <a:buFont typeface="Garamond,Serif"/>
              <a:buChar char="◦"/>
            </a:pPr>
            <a:r>
              <a:rPr lang="en-US" sz="1400">
                <a:solidFill>
                  <a:srgbClr val="0F1115"/>
                </a:solidFill>
                <a:cs typeface="Arial"/>
              </a:rPr>
              <a:t>Extract important text features from job descriptions and company profiles.</a:t>
            </a:r>
            <a:endParaRPr lang="en-US" sz="1400">
              <a:solidFill>
                <a:srgbClr val="000000"/>
              </a:solidFill>
              <a:cs typeface="Arial"/>
            </a:endParaRPr>
          </a:p>
          <a:p>
            <a:pPr marL="742950" lvl="1" indent="-285750">
              <a:spcBef>
                <a:spcPts val="500"/>
              </a:spcBef>
              <a:buFont typeface="Garamond,Serif"/>
              <a:buChar char="◦"/>
            </a:pPr>
            <a:r>
              <a:rPr lang="en-US" sz="1400">
                <a:solidFill>
                  <a:srgbClr val="0F1115"/>
                </a:solidFill>
                <a:cs typeface="Arial"/>
              </a:rPr>
              <a:t>Use </a:t>
            </a:r>
            <a:r>
              <a:rPr lang="en-US" sz="1400">
                <a:solidFill>
                  <a:srgbClr val="0F1115"/>
                </a:solidFill>
                <a:latin typeface="Consolas"/>
                <a:cs typeface="Arial"/>
              </a:rPr>
              <a:t>text</a:t>
            </a:r>
            <a:r>
              <a:rPr lang="en-US" sz="1400">
                <a:solidFill>
                  <a:srgbClr val="0F1115"/>
                </a:solidFill>
                <a:cs typeface="Arial"/>
              </a:rPr>
              <a:t> column as the main input for NLP models.</a:t>
            </a:r>
            <a:endParaRPr lang="en-US" sz="1400">
              <a:cs typeface="Arial"/>
            </a:endParaRPr>
          </a:p>
          <a:p>
            <a:pPr marL="285750" indent="-285750">
              <a:spcBef>
                <a:spcPts val="900"/>
              </a:spcBef>
              <a:buFont typeface="Garamond,Serif"/>
              <a:buChar char="◦"/>
            </a:pPr>
            <a:r>
              <a:rPr lang="en-US" sz="1400" b="1">
                <a:solidFill>
                  <a:srgbClr val="0F1115"/>
                </a:solidFill>
                <a:cs typeface="Arial"/>
              </a:rPr>
              <a:t>Handle Class Imbalance:</a:t>
            </a:r>
            <a:endParaRPr lang="en-US" sz="1400">
              <a:solidFill>
                <a:srgbClr val="000000"/>
              </a:solidFill>
              <a:cs typeface="Arial"/>
            </a:endParaRPr>
          </a:p>
          <a:p>
            <a:pPr marL="742950" lvl="1" indent="-285750">
              <a:spcBef>
                <a:spcPts val="500"/>
              </a:spcBef>
              <a:buFont typeface="Garamond,Serif"/>
              <a:buChar char="◦"/>
            </a:pPr>
            <a:r>
              <a:rPr lang="en-US" sz="1400">
                <a:solidFill>
                  <a:srgbClr val="0F1115"/>
                </a:solidFill>
                <a:cs typeface="Arial"/>
              </a:rPr>
              <a:t>Apply </a:t>
            </a:r>
            <a:r>
              <a:rPr lang="en-US" sz="1400" b="1">
                <a:solidFill>
                  <a:srgbClr val="0F1115"/>
                </a:solidFill>
                <a:cs typeface="Arial"/>
              </a:rPr>
              <a:t>SMOTE</a:t>
            </a:r>
            <a:r>
              <a:rPr lang="en-US" sz="1400">
                <a:solidFill>
                  <a:srgbClr val="0F1115"/>
                </a:solidFill>
                <a:cs typeface="Arial"/>
              </a:rPr>
              <a:t> and </a:t>
            </a:r>
            <a:r>
              <a:rPr lang="en-US" sz="1400" b="1">
                <a:solidFill>
                  <a:srgbClr val="0F1115"/>
                </a:solidFill>
                <a:cs typeface="Arial"/>
              </a:rPr>
              <a:t>its 10 variants</a:t>
            </a:r>
            <a:r>
              <a:rPr lang="en-US" sz="1400">
                <a:solidFill>
                  <a:srgbClr val="0F1115"/>
                </a:solidFill>
                <a:cs typeface="Arial"/>
              </a:rPr>
              <a:t> to balance real vs fake job counts (since real jobs &gt; fake jobs).</a:t>
            </a:r>
            <a:endParaRPr lang="en-US" sz="1400">
              <a:cs typeface="Arial"/>
            </a:endParaRPr>
          </a:p>
          <a:p>
            <a:pPr marL="285750" indent="-285750">
              <a:spcBef>
                <a:spcPts val="900"/>
              </a:spcBef>
              <a:buFont typeface="Garamond,Serif"/>
              <a:buChar char="◦"/>
            </a:pPr>
            <a:r>
              <a:rPr lang="en-US" sz="1400" b="1">
                <a:solidFill>
                  <a:srgbClr val="0F1115"/>
                </a:solidFill>
                <a:cs typeface="Arial"/>
              </a:rPr>
              <a:t>Train AI Model:</a:t>
            </a:r>
            <a:endParaRPr lang="en-US" sz="1400">
              <a:solidFill>
                <a:srgbClr val="000000"/>
              </a:solidFill>
              <a:cs typeface="Arial"/>
            </a:endParaRPr>
          </a:p>
          <a:p>
            <a:pPr marL="742950" lvl="1" indent="-285750">
              <a:spcBef>
                <a:spcPts val="500"/>
              </a:spcBef>
              <a:buFont typeface="Garamond,Serif"/>
              <a:buChar char="◦"/>
            </a:pPr>
            <a:r>
              <a:rPr lang="en-US" sz="1400">
                <a:solidFill>
                  <a:srgbClr val="0F1115"/>
                </a:solidFill>
                <a:cs typeface="Arial"/>
              </a:rPr>
              <a:t>Use </a:t>
            </a:r>
            <a:r>
              <a:rPr lang="en-US" sz="1400" b="1">
                <a:solidFill>
                  <a:srgbClr val="0F1115"/>
                </a:solidFill>
                <a:cs typeface="Arial"/>
              </a:rPr>
              <a:t>BERT (Bidirectional Encoder Representations from Transformers)</a:t>
            </a:r>
            <a:r>
              <a:rPr lang="en-US" sz="1400">
                <a:solidFill>
                  <a:srgbClr val="0F1115"/>
                </a:solidFill>
                <a:cs typeface="Arial"/>
              </a:rPr>
              <a:t> to learn deep contextual meaning of job posts.</a:t>
            </a:r>
            <a:endParaRPr lang="en-US" sz="1400">
              <a:cs typeface="Arial"/>
            </a:endParaRPr>
          </a:p>
          <a:p>
            <a:pPr marL="285750" indent="-285750">
              <a:spcBef>
                <a:spcPts val="900"/>
              </a:spcBef>
              <a:buFont typeface="Garamond,Serif"/>
              <a:buChar char="◦"/>
            </a:pPr>
            <a:r>
              <a:rPr lang="en-US" sz="1400" b="1">
                <a:solidFill>
                  <a:srgbClr val="0F1115"/>
                </a:solidFill>
                <a:cs typeface="Arial"/>
              </a:rPr>
              <a:t>Classification:</a:t>
            </a:r>
            <a:endParaRPr lang="en-US" sz="1400">
              <a:solidFill>
                <a:srgbClr val="000000"/>
              </a:solidFill>
              <a:cs typeface="Arial"/>
            </a:endParaRPr>
          </a:p>
          <a:p>
            <a:pPr marL="742950" lvl="1" indent="-285750">
              <a:spcBef>
                <a:spcPts val="500"/>
              </a:spcBef>
              <a:buFont typeface="Garamond,Serif"/>
              <a:buChar char="◦"/>
            </a:pPr>
            <a:r>
              <a:rPr lang="en-US" sz="1400">
                <a:solidFill>
                  <a:srgbClr val="0F1115"/>
                </a:solidFill>
                <a:cs typeface="Arial"/>
              </a:rPr>
              <a:t>The trained BERT model predicts each posting as </a:t>
            </a:r>
            <a:r>
              <a:rPr lang="en-US" sz="1400" b="1">
                <a:solidFill>
                  <a:srgbClr val="0F1115"/>
                </a:solidFill>
                <a:cs typeface="Arial"/>
              </a:rPr>
              <a:t>Fake (1)</a:t>
            </a:r>
            <a:r>
              <a:rPr lang="en-US" sz="1400">
                <a:solidFill>
                  <a:srgbClr val="0F1115"/>
                </a:solidFill>
                <a:cs typeface="Arial"/>
              </a:rPr>
              <a:t> or </a:t>
            </a:r>
            <a:r>
              <a:rPr lang="en-US" sz="1400" b="1">
                <a:solidFill>
                  <a:srgbClr val="0F1115"/>
                </a:solidFill>
                <a:cs typeface="Arial"/>
              </a:rPr>
              <a:t>Real (0)</a:t>
            </a:r>
            <a:r>
              <a:rPr lang="en-US" sz="1400">
                <a:solidFill>
                  <a:srgbClr val="0F1115"/>
                </a:solidFill>
                <a:cs typeface="Arial"/>
              </a:rPr>
              <a:t>.</a:t>
            </a:r>
            <a:endParaRPr lang="en-US" sz="1400">
              <a:cs typeface="Arial"/>
            </a:endParaRPr>
          </a:p>
          <a:p>
            <a:pPr marL="285750" indent="-285750">
              <a:spcBef>
                <a:spcPts val="900"/>
              </a:spcBef>
              <a:buFont typeface="Garamond,Serif"/>
              <a:buChar char="◦"/>
            </a:pPr>
            <a:r>
              <a:rPr lang="en-US" sz="1400" b="1">
                <a:solidFill>
                  <a:srgbClr val="0F1115"/>
                </a:solidFill>
                <a:cs typeface="Arial"/>
              </a:rPr>
              <a:t>Evaluation:</a:t>
            </a:r>
            <a:endParaRPr lang="en-US" sz="1400">
              <a:solidFill>
                <a:srgbClr val="000000"/>
              </a:solidFill>
              <a:cs typeface="Arial"/>
            </a:endParaRPr>
          </a:p>
          <a:p>
            <a:pPr marL="742950" lvl="1" indent="-285750">
              <a:spcBef>
                <a:spcPts val="500"/>
              </a:spcBef>
              <a:buFont typeface="Garamond,Serif"/>
              <a:buChar char="◦"/>
            </a:pPr>
            <a:r>
              <a:rPr lang="en-US" sz="1400">
                <a:solidFill>
                  <a:srgbClr val="0F1115"/>
                </a:solidFill>
                <a:cs typeface="Arial"/>
              </a:rPr>
              <a:t>Assess model using </a:t>
            </a:r>
            <a:r>
              <a:rPr lang="en-US" sz="1400" b="1">
                <a:solidFill>
                  <a:srgbClr val="0F1115"/>
                </a:solidFill>
                <a:cs typeface="Arial"/>
              </a:rPr>
              <a:t>Accuracy</a:t>
            </a:r>
            <a:r>
              <a:rPr lang="en-US" sz="1400">
                <a:solidFill>
                  <a:srgbClr val="0F1115"/>
                </a:solidFill>
                <a:cs typeface="Arial"/>
              </a:rPr>
              <a:t>, </a:t>
            </a:r>
            <a:r>
              <a:rPr lang="en-US" sz="1400" b="1">
                <a:solidFill>
                  <a:srgbClr val="0F1115"/>
                </a:solidFill>
                <a:cs typeface="Arial"/>
              </a:rPr>
              <a:t>F1-score</a:t>
            </a:r>
            <a:r>
              <a:rPr lang="en-US" sz="1400">
                <a:solidFill>
                  <a:srgbClr val="0F1115"/>
                </a:solidFill>
                <a:cs typeface="Arial"/>
              </a:rPr>
              <a:t>, and </a:t>
            </a:r>
            <a:r>
              <a:rPr lang="en-US" sz="1400" b="1">
                <a:solidFill>
                  <a:srgbClr val="0F1115"/>
                </a:solidFill>
                <a:cs typeface="Arial"/>
              </a:rPr>
              <a:t>Precision–Recall</a:t>
            </a:r>
            <a:r>
              <a:rPr lang="en-US" sz="1400">
                <a:solidFill>
                  <a:srgbClr val="0F1115"/>
                </a:solidFill>
                <a:cs typeface="Arial"/>
              </a:rPr>
              <a:t> </a:t>
            </a:r>
            <a:r>
              <a:rPr lang="en-US" sz="1400">
                <a:solidFill>
                  <a:srgbClr val="0F1115"/>
                </a:solidFill>
                <a:cs typeface="Segoe UI"/>
              </a:rPr>
              <a:t>metrics</a:t>
            </a:r>
            <a:r>
              <a:rPr lang="en-US" sz="1400">
                <a:solidFill>
                  <a:srgbClr val="0F1115"/>
                </a:solidFill>
                <a:cs typeface="Arial"/>
              </a:rPr>
              <a:t>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9821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E05793-62CF-24FD-7B77-1DD29AF4D95B}"/>
              </a:ext>
            </a:extLst>
          </p:cNvPr>
          <p:cNvSpPr txBox="1"/>
          <p:nvPr/>
        </p:nvSpPr>
        <p:spPr>
          <a:xfrm>
            <a:off x="1063925" y="1071114"/>
            <a:ext cx="6096000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400" baseline="0">
                <a:latin typeface="Century Gothic"/>
                <a:ea typeface="Segoe UI"/>
                <a:cs typeface="Segoe UI"/>
              </a:rPr>
              <a:t> </a:t>
            </a:r>
            <a:r>
              <a:rPr lang="en-US" sz="1400" b="1" baseline="0">
                <a:latin typeface="Century Gothic"/>
                <a:ea typeface="Segoe UI"/>
                <a:cs typeface="Segoe UI"/>
              </a:rPr>
              <a:t>3. Output &amp; Storage</a:t>
            </a:r>
            <a:r>
              <a:rPr lang="en-US" sz="1400">
                <a:latin typeface="Century Gothic"/>
                <a:ea typeface="Segoe UI"/>
                <a:cs typeface="Segoe UI"/>
              </a:rPr>
              <a:t>​</a:t>
            </a:r>
          </a:p>
          <a:p>
            <a:pPr marL="228600" lvl="0" indent="-228600" rtl="0">
              <a:buFont typeface="Garamond,Serif"/>
              <a:buChar char="◦"/>
            </a:pPr>
            <a:r>
              <a:rPr lang="en-US" sz="1600" baseline="0">
                <a:solidFill>
                  <a:srgbClr val="0F1115"/>
                </a:solidFill>
                <a:latin typeface="Century Gothic"/>
                <a:ea typeface="Arial"/>
                <a:cs typeface="Arial"/>
              </a:rPr>
              <a:t>Store predictions and performance metrics.</a:t>
            </a:r>
            <a:r>
              <a:rPr lang="en-US" sz="1600">
                <a:latin typeface="Century Gothic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Garamond,Serif"/>
              <a:buChar char="◦"/>
            </a:pPr>
            <a:r>
              <a:rPr lang="en-US" sz="1600" baseline="0">
                <a:solidFill>
                  <a:srgbClr val="0F1115"/>
                </a:solidFill>
                <a:latin typeface="Century Gothic"/>
                <a:ea typeface="Arial"/>
                <a:cs typeface="Arial"/>
              </a:rPr>
              <a:t>The final labeled and processed data can be used for </a:t>
            </a:r>
            <a:r>
              <a:rPr lang="en-US" sz="1600" b="1" baseline="0">
                <a:solidFill>
                  <a:srgbClr val="0F1115"/>
                </a:solidFill>
                <a:latin typeface="Century Gothic"/>
                <a:ea typeface="Arial"/>
                <a:cs typeface="Arial"/>
              </a:rPr>
              <a:t>future retraining</a:t>
            </a:r>
            <a:r>
              <a:rPr lang="en-US" sz="1600" baseline="0">
                <a:solidFill>
                  <a:srgbClr val="0F1115"/>
                </a:solidFill>
                <a:latin typeface="Century Gothic"/>
                <a:ea typeface="Arial"/>
                <a:cs typeface="Arial"/>
              </a:rPr>
              <a:t> or </a:t>
            </a:r>
            <a:r>
              <a:rPr lang="en-US" sz="1600" b="1" baseline="0">
                <a:solidFill>
                  <a:srgbClr val="0F1115"/>
                </a:solidFill>
                <a:latin typeface="Century Gothic"/>
                <a:ea typeface="Arial"/>
                <a:cs typeface="Arial"/>
              </a:rPr>
              <a:t>dashboard visualization</a:t>
            </a:r>
            <a:r>
              <a:rPr lang="en-US" sz="1600" baseline="0">
                <a:solidFill>
                  <a:srgbClr val="0F1115"/>
                </a:solidFill>
                <a:latin typeface="Century Gothic"/>
                <a:ea typeface="Arial"/>
                <a:cs typeface="Arial"/>
              </a:rPr>
              <a:t>.</a:t>
            </a:r>
            <a:r>
              <a:rPr lang="en-US" sz="1600">
                <a:latin typeface="Century Gothic"/>
                <a:ea typeface="Arial"/>
                <a:cs typeface="Arial"/>
              </a:rPr>
              <a:t>​</a:t>
            </a:r>
          </a:p>
          <a:p>
            <a:pPr rtl="0"/>
            <a:r>
              <a:rPr lang="en-US" sz="1600">
                <a:latin typeface="Century Gothic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600">
                <a:latin typeface="Century Gothic"/>
                <a:ea typeface="Segoe UI"/>
                <a:cs typeface="Segoe UI"/>
              </a:rPr>
              <a:t>​</a:t>
            </a:r>
          </a:p>
          <a:p>
            <a:pPr algn="ctr"/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807435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6A16D-B97C-9AD4-2A88-AB63AD7D2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32F73EB-B46F-4F77-B3DC-7C374906F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DB10B3-CF45-4294-8994-0E8AD1FC6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45417F-1D1B-48A7-B4DA-BAD73B02C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CF9D9F-1672-4D0C-934E-CD9EE1BE5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558C702-CA14-4264-B8FC-A5120F75D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621A72C-7343-4A22-8700-696C5860A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44A4DC-7861-4DCC-9931-5A075855D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16C316F-BFB5-424F-A951-E962A3B74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B66F8A2C-B8CF-4B20-9A73-2ADCF6302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0C23B1-7427-4DF4-BFF1-60CD7E93B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5DD78E9-DE0D-47AF-A0DB-F475221E3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118D329-2010-4A15-B57C-429FFAE3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A40D7-011D-7515-B757-89198560F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520" y="1272800"/>
            <a:ext cx="6544620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3000"/>
              </a:lnSpc>
            </a:pPr>
            <a:r>
              <a:rPr lang="en-US" sz="6800" u="sng" cap="all" spc="-100">
                <a:solidFill>
                  <a:schemeClr val="tx1"/>
                </a:solidFill>
              </a:rPr>
              <a:t>Dataset SURVEY </a:t>
            </a:r>
            <a:endParaRPr lang="en-US" sz="6800" cap="all" spc="-100">
              <a:solidFill>
                <a:schemeClr val="tx1"/>
              </a:solidFill>
            </a:endParaRPr>
          </a:p>
          <a:p>
            <a:pPr algn="r">
              <a:lnSpc>
                <a:spcPct val="83000"/>
              </a:lnSpc>
            </a:pPr>
            <a:endParaRPr lang="en-US" sz="6800" cap="all" spc="-1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13343-6645-3ABE-8BF5-41EF173A1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3440" y="1272800"/>
            <a:ext cx="2481307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spc="80"/>
              <a:t>      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94262BC-EE98-4BD6-82DB-4955E8DC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2" y="2057401"/>
            <a:ext cx="0" cy="27432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39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0BC15-ACA3-AA3F-DD25-C4B8BCDFF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9037"/>
            <a:ext cx="10058400" cy="609431"/>
          </a:xfrm>
        </p:spPr>
        <p:txBody>
          <a:bodyPr>
            <a:normAutofit fontScale="90000"/>
          </a:bodyPr>
          <a:lstStyle/>
          <a:p>
            <a:r>
              <a:rPr lang="en-US"/>
              <a:t>Dataset Compare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BDB1C11-2A3E-7446-02F5-83F5D1E716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9480337"/>
              </p:ext>
            </p:extLst>
          </p:nvPr>
        </p:nvGraphicFramePr>
        <p:xfrm>
          <a:off x="495780" y="1097280"/>
          <a:ext cx="11200440" cy="5176619"/>
        </p:xfrm>
        <a:graphic>
          <a:graphicData uri="http://schemas.openxmlformats.org/drawingml/2006/table">
            <a:tbl>
              <a:tblPr/>
              <a:tblGrid>
                <a:gridCol w="2472503">
                  <a:extLst>
                    <a:ext uri="{9D8B030D-6E8A-4147-A177-3AD203B41FA5}">
                      <a16:colId xmlns:a16="http://schemas.microsoft.com/office/drawing/2014/main" val="2750638498"/>
                    </a:ext>
                  </a:extLst>
                </a:gridCol>
                <a:gridCol w="3127717">
                  <a:extLst>
                    <a:ext uri="{9D8B030D-6E8A-4147-A177-3AD203B41FA5}">
                      <a16:colId xmlns:a16="http://schemas.microsoft.com/office/drawing/2014/main" val="2474190818"/>
                    </a:ext>
                  </a:extLst>
                </a:gridCol>
                <a:gridCol w="2800110">
                  <a:extLst>
                    <a:ext uri="{9D8B030D-6E8A-4147-A177-3AD203B41FA5}">
                      <a16:colId xmlns:a16="http://schemas.microsoft.com/office/drawing/2014/main" val="3678143633"/>
                    </a:ext>
                  </a:extLst>
                </a:gridCol>
                <a:gridCol w="2800110">
                  <a:extLst>
                    <a:ext uri="{9D8B030D-6E8A-4147-A177-3AD203B41FA5}">
                      <a16:colId xmlns:a16="http://schemas.microsoft.com/office/drawing/2014/main" val="1983837285"/>
                    </a:ext>
                  </a:extLst>
                </a:gridCol>
              </a:tblGrid>
              <a:tr h="2607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Aspect</a:t>
                      </a:r>
                      <a:endParaRPr lang="en-US" sz="1300"/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Fake job posting detection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⚪ </a:t>
                      </a:r>
                      <a:r>
                        <a:rPr lang="en-US" sz="1300" b="1"/>
                        <a:t>ESA dataset</a:t>
                      </a:r>
                      <a:endParaRPr lang="en-US" sz="1300"/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⚪ </a:t>
                      </a:r>
                      <a:r>
                        <a:rPr lang="en-US" sz="1300" b="1"/>
                        <a:t> LinkedIn Job Postings</a:t>
                      </a:r>
                      <a:endParaRPr lang="en-US" sz="1300"/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638024"/>
                  </a:ext>
                </a:extLst>
              </a:tr>
              <a:tr h="573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Dataset Size &amp; Coverage</a:t>
                      </a:r>
                      <a:endParaRPr lang="en-US" sz="1300"/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Massive — over 50,000 entries</a:t>
                      </a:r>
                      <a:r>
                        <a:rPr lang="en-US" sz="1300"/>
                        <a:t>, covering multiple industries and job types, giving broader learning scope.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Limited (~17,800 entries) — narrow domain and outdated samples.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Large (~124,000 entries) but </a:t>
                      </a:r>
                      <a:r>
                        <a:rPr lang="en-US" sz="1300" b="1"/>
                        <a:t>no fraud labels</a:t>
                      </a:r>
                      <a:r>
                        <a:rPr lang="en-US" sz="1300"/>
                        <a:t>, making it unsuitable for supervised detection.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43145"/>
                  </a:ext>
                </a:extLst>
              </a:tr>
              <a:tr h="4172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Label Availability</a:t>
                      </a:r>
                      <a:endParaRPr lang="en-US" sz="1300"/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Fully labeled with “fake” vs “real”</a:t>
                      </a:r>
                      <a:r>
                        <a:rPr lang="en-US" sz="1300"/>
                        <a:t> — ready for direct supervised training and evaluation.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Labeled but </a:t>
                      </a:r>
                      <a:r>
                        <a:rPr lang="en-US" sz="1300" b="1"/>
                        <a:t>highly imbalanced</a:t>
                      </a:r>
                      <a:r>
                        <a:rPr lang="en-US" sz="1300"/>
                        <a:t>, requiring heavy preprocessing.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Unlabeled</a:t>
                      </a:r>
                      <a:r>
                        <a:rPr lang="en-US" sz="1300"/>
                        <a:t> — needs manual or heuristic labeling.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547655"/>
                  </a:ext>
                </a:extLst>
              </a:tr>
              <a:tr h="573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Data Quality &amp; Completeness</a:t>
                      </a:r>
                      <a:endParaRPr lang="en-US" sz="1300"/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High-quality data</a:t>
                      </a:r>
                      <a:r>
                        <a:rPr lang="en-US" sz="1300"/>
                        <a:t> with well-structured text fields and fewer missing values — ideal for NLP and deep models like BERT.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Medium — older, incomplete, and noisier; many missing fields.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High for structure, but </a:t>
                      </a:r>
                      <a:r>
                        <a:rPr lang="en-US" sz="1300" b="1"/>
                        <a:t>lacks target variable</a:t>
                      </a:r>
                      <a:r>
                        <a:rPr lang="en-US" sz="1300"/>
                        <a:t> for fake detection.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059278"/>
                  </a:ext>
                </a:extLst>
              </a:tr>
              <a:tr h="4954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Diversity &amp; Realism</a:t>
                      </a:r>
                      <a:endParaRPr lang="en-US" sz="1300"/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Highly diverse</a:t>
                      </a:r>
                      <a:r>
                        <a:rPr lang="en-US" sz="1300"/>
                        <a:t> — includes various industries, locations, and job types; closer to real-world posting distribution.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Narrow focus — limited diversity and outdated terminology.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Extremely diverse and modern, but only represents genuine jobs.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002637"/>
                  </a:ext>
                </a:extLst>
              </a:tr>
              <a:tr h="4954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Recency &amp; Relevance</a:t>
                      </a:r>
                      <a:endParaRPr lang="en-US" sz="1300"/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Recent and more representative</a:t>
                      </a:r>
                      <a:r>
                        <a:rPr lang="en-US" sz="1300"/>
                        <a:t> of current online job markets — useful for modern fake-job trends.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Outdated (2012–2014) — patterns may no longer reflect current scams.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Recent (2023–2024), but not fraud-related.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910647"/>
                  </a:ext>
                </a:extLst>
              </a:tr>
              <a:tr h="573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Machine Learning Utility</a:t>
                      </a:r>
                      <a:endParaRPr lang="en-US" sz="1300"/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Best suited for end-to-end fake-job detection pipelines</a:t>
                      </a:r>
                      <a:r>
                        <a:rPr lang="en-US" sz="1300"/>
                        <a:t> — supports deep learning, feature extraction, and evaluation.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Good for benchmarking classic ML models but too small for deep learning.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Useful for </a:t>
                      </a:r>
                      <a:r>
                        <a:rPr lang="en-US" sz="1300" b="1"/>
                        <a:t>pretraining embeddings</a:t>
                      </a:r>
                      <a:r>
                        <a:rPr lang="en-US" sz="1300"/>
                        <a:t> or unsupervised anomaly detection only.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675863"/>
                  </a:ext>
                </a:extLst>
              </a:tr>
              <a:tr h="573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Generalization Potential</a:t>
                      </a:r>
                      <a:endParaRPr lang="en-US" sz="1300"/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/>
                        <a:t>High</a:t>
                      </a:r>
                      <a:r>
                        <a:rPr lang="en-US" sz="1300"/>
                        <a:t> — large, balanced, and varied dataset reduces overfitting and improves real-world model accuracy.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Low — smaller, biased, and domain-specific; poor generalization.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Medium — can help with representation learning but not fraud prediction.</a:t>
                      </a:r>
                    </a:p>
                  </a:txBody>
                  <a:tcPr marL="22996" marR="22996" marT="11498" marB="114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426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705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C8EC-BD45-98FE-F600-57E7B04A3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287000" cy="1371600"/>
          </a:xfrm>
        </p:spPr>
        <p:txBody>
          <a:bodyPr>
            <a:normAutofit fontScale="90000"/>
          </a:bodyPr>
          <a:lstStyle/>
          <a:p>
            <a:r>
              <a:rPr lang="en-US"/>
              <a:t>Dataset : Fake-Job-Posting-Detection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5E198E5-2EC3-A033-D59B-97206A4B1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7570956"/>
              </p:ext>
            </p:extLst>
          </p:nvPr>
        </p:nvGraphicFramePr>
        <p:xfrm>
          <a:off x="838200" y="2146299"/>
          <a:ext cx="10515600" cy="4030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0586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2291D-F91D-494D-8A9C-7AD48EF97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/>
              <a:t>Attribute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CD34D-BA4D-A3AE-9F58-66D8EB827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600"/>
            <a:ext cx="10515600" cy="493236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/>
              <a:t>• </a:t>
            </a:r>
            <a:r>
              <a:rPr lang="en-US" sz="1800" b="1" err="1"/>
              <a:t>job_title</a:t>
            </a:r>
            <a:r>
              <a:rPr lang="en-US" sz="1800" b="1"/>
              <a:t>: </a:t>
            </a:r>
            <a:r>
              <a:rPr lang="en-US" sz="1800"/>
              <a:t>The title of the job posting (e.g. “Data Analyst”). It tells you what position the job is     for.</a:t>
            </a:r>
            <a:br>
              <a:rPr lang="en-US" sz="1800"/>
            </a:br>
            <a:r>
              <a:rPr lang="en-US" sz="1800"/>
              <a:t>• </a:t>
            </a:r>
            <a:r>
              <a:rPr lang="en-US" sz="1800" b="1"/>
              <a:t>location: </a:t>
            </a:r>
            <a:r>
              <a:rPr lang="en-US" sz="1800"/>
              <a:t>Where the job is based — can be a city, country, or sometimes even “Remote”.</a:t>
            </a:r>
            <a:br>
              <a:rPr lang="en-US" sz="1800"/>
            </a:br>
            <a:r>
              <a:rPr lang="en-US" sz="1800"/>
              <a:t>• </a:t>
            </a:r>
            <a:r>
              <a:rPr lang="en-US" sz="1800" b="1"/>
              <a:t>industry: </a:t>
            </a:r>
            <a:r>
              <a:rPr lang="en-US" sz="1800"/>
              <a:t>The industry or sector the job belongs to (like IT, Finance, Healthcare, etc.).</a:t>
            </a:r>
            <a:br>
              <a:rPr lang="en-US" sz="1800"/>
            </a:br>
            <a:r>
              <a:rPr lang="en-US" sz="1800"/>
              <a:t>• </a:t>
            </a:r>
            <a:r>
              <a:rPr lang="en-US" sz="1800" b="1" err="1"/>
              <a:t>salary_range</a:t>
            </a:r>
            <a:r>
              <a:rPr lang="en-US" sz="1800" b="1"/>
              <a:t>: </a:t>
            </a:r>
            <a:r>
              <a:rPr lang="en-US" sz="1800"/>
              <a:t>The salary offered for the job, usually written as a range (e.g. "$50,000 - $70,000"). If it's missing or seems off, it might be a red flag.</a:t>
            </a:r>
            <a:br>
              <a:rPr lang="en-US" sz="1800"/>
            </a:br>
            <a:r>
              <a:rPr lang="en-US" sz="1800"/>
              <a:t>• </a:t>
            </a:r>
            <a:r>
              <a:rPr lang="en-US" sz="1800" b="1" err="1"/>
              <a:t>company_profile</a:t>
            </a:r>
            <a:r>
              <a:rPr lang="en-US" sz="1800" b="1"/>
              <a:t>: </a:t>
            </a:r>
            <a:r>
              <a:rPr lang="en-US" sz="1800"/>
              <a:t>A short description about the company — who they are, what they do, and sometimes their goals. Scam posts often skip this or copy it from somewhere else.</a:t>
            </a:r>
            <a:br>
              <a:rPr lang="en-US" sz="1800"/>
            </a:br>
            <a:r>
              <a:rPr lang="en-US" sz="1800" b="1"/>
              <a:t>• </a:t>
            </a:r>
            <a:r>
              <a:rPr lang="en-US" sz="1800" b="1" err="1"/>
              <a:t>job_desc</a:t>
            </a:r>
            <a:r>
              <a:rPr lang="en-US" sz="1800" b="1"/>
              <a:t>: </a:t>
            </a:r>
            <a:r>
              <a:rPr lang="en-US" sz="1800"/>
              <a:t>The full job description — includes duties, responsibilities, and other job-related details.</a:t>
            </a:r>
            <a:br>
              <a:rPr lang="en-US" sz="1800"/>
            </a:br>
            <a:r>
              <a:rPr lang="en-US" sz="1800"/>
              <a:t>• </a:t>
            </a:r>
            <a:r>
              <a:rPr lang="en-US" sz="1800" b="1" err="1"/>
              <a:t>skills_desc</a:t>
            </a:r>
            <a:r>
              <a:rPr lang="en-US" sz="1800" b="1"/>
              <a:t>: </a:t>
            </a:r>
            <a:r>
              <a:rPr lang="en-US" sz="1800"/>
              <a:t>A list or paragraph of required skills for the job (like Python, Communication skills, etc.).</a:t>
            </a:r>
            <a:br>
              <a:rPr lang="en-US" sz="1800"/>
            </a:br>
            <a:r>
              <a:rPr lang="en-US" sz="1800"/>
              <a:t>• </a:t>
            </a:r>
            <a:r>
              <a:rPr lang="en-US" sz="1800" b="1" err="1"/>
              <a:t>employment_type</a:t>
            </a:r>
            <a:r>
              <a:rPr lang="en-US" sz="1800" b="1"/>
              <a:t>: </a:t>
            </a:r>
            <a:r>
              <a:rPr lang="en-US" sz="1800"/>
              <a:t>The type of job it is — like Full-time, Part-time, Internship, Contract, etc.</a:t>
            </a:r>
            <a:br>
              <a:rPr lang="en-US" sz="1800"/>
            </a:br>
            <a:r>
              <a:rPr lang="en-US" sz="1800"/>
              <a:t>• </a:t>
            </a:r>
            <a:r>
              <a:rPr lang="en-US" sz="1800" b="1"/>
              <a:t>fraudulent</a:t>
            </a:r>
            <a:r>
              <a:rPr lang="en-US" sz="1800"/>
              <a:t>: The label we're trying to predict — 0 means a real job, and 1 means a fake one.</a:t>
            </a:r>
            <a:br>
              <a:rPr lang="en-US" sz="1800"/>
            </a:br>
            <a:r>
              <a:rPr lang="en-US" sz="1800"/>
              <a:t>• </a:t>
            </a:r>
            <a:r>
              <a:rPr lang="en-US" sz="1800" b="1"/>
              <a:t>text: </a:t>
            </a:r>
            <a:r>
              <a:rPr lang="en-US" sz="1800"/>
              <a:t>A combined version of all the main text fields — used for feeding into models like BERT.</a:t>
            </a:r>
          </a:p>
        </p:txBody>
      </p:sp>
    </p:spTree>
    <p:extLst>
      <p:ext uri="{BB962C8B-B14F-4D97-AF65-F5344CB8AC3E}">
        <p14:creationId xmlns:p14="http://schemas.microsoft.com/office/powerpoint/2010/main" val="2239989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4F7E7-A251-0DB0-2CC9-F88D047A5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D8E4B-E372-0EFC-313B-BE7A8585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IN"/>
              <a:t>Methodology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3E29E9-8FA7-D34B-8926-AB0BF8DC6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00" y="1429143"/>
            <a:ext cx="9283700" cy="4747820"/>
          </a:xfrm>
        </p:spPr>
      </p:pic>
    </p:spTree>
    <p:extLst>
      <p:ext uri="{BB962C8B-B14F-4D97-AF65-F5344CB8AC3E}">
        <p14:creationId xmlns:p14="http://schemas.microsoft.com/office/powerpoint/2010/main" val="537145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2704D0-7412-43EC-31D4-1D4EFE846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467" y="643467"/>
            <a:ext cx="6827205" cy="58201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688351-9624-9A3F-4E60-D8C972863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33" y="643464"/>
            <a:ext cx="2888344" cy="5410206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tx1"/>
                </a:solidFill>
              </a:rPr>
              <a:t>Model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28041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B092-B9D6-11D5-4D87-5CC15DBA7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3200" b="1"/>
              <a:t>Pretrain Model</a:t>
            </a:r>
            <a:r>
              <a:rPr lang="en-US" sz="3200"/>
              <a:t> :- </a:t>
            </a:r>
            <a:r>
              <a:rPr lang="en-US" sz="3200" err="1">
                <a:ea typeface="+mj-lt"/>
                <a:cs typeface="+mj-lt"/>
              </a:rPr>
              <a:t>AventIQ</a:t>
            </a:r>
            <a:r>
              <a:rPr lang="en-US" sz="3200">
                <a:ea typeface="+mj-lt"/>
                <a:cs typeface="+mj-lt"/>
              </a:rPr>
              <a:t>-AI/BERT-Spam-Job-Posting-Detection-Model (1 year Older)</a:t>
            </a:r>
            <a:endParaRPr lang="en-US" sz="3200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51AA7CE-6825-88EE-002F-82615B462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2266532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8793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0FAA-E175-36BE-2BC3-FEAA73C3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86" y="484043"/>
            <a:ext cx="10410028" cy="13287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 For using the Pretrained Model :- </a:t>
            </a: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59F3EC8-83A9-1D5C-870F-F7710089B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884" b="-3"/>
          <a:stretch>
            <a:fillRect/>
          </a:stretch>
        </p:blipFill>
        <p:spPr>
          <a:xfrm>
            <a:off x="198741" y="2163919"/>
            <a:ext cx="5881764" cy="4136886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36E80A0-5E33-46A2-3071-12085735E2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60" b="3"/>
          <a:stretch>
            <a:fillRect/>
          </a:stretch>
        </p:blipFill>
        <p:spPr>
          <a:xfrm>
            <a:off x="6189934" y="2163919"/>
            <a:ext cx="5803323" cy="413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77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36A4-C6BB-6724-5CAC-BF884395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0" y="622004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Output Generated :- 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C35D70-380C-67DF-CBB0-C3A96ECED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631" y="2690716"/>
            <a:ext cx="6706321" cy="2104887"/>
          </a:xfrm>
          <a:prstGeom prst="rect">
            <a:avLst/>
          </a:prstGeom>
        </p:spPr>
      </p:pic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39396510-31DD-163B-00E8-7041E53C3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91" y="2139484"/>
            <a:ext cx="5235159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47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FC2C-06A1-1DDB-B78E-DAADEE696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err="1"/>
              <a:t>Scapper</a:t>
            </a:r>
            <a:r>
              <a:rPr lang="en-US" sz="440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318D-19E2-B575-4D92-3F678018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1" y="559477"/>
            <a:ext cx="6187440" cy="547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>
                <a:ea typeface="+mn-lt"/>
                <a:cs typeface="+mn-lt"/>
              </a:rPr>
              <a:t>→ The scraper is the data collection backbone of the entire fraud-detection system.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>
                <a:ea typeface="+mn-lt"/>
                <a:cs typeface="+mn-lt"/>
              </a:rPr>
              <a:t>The BERT model can’t detect fake postings without real job data to analyze — the scraper automatically gathers those postings from multiple websites in a structured, machine-readable format (CSV/JSONL).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>
                <a:ea typeface="+mn-lt"/>
                <a:cs typeface="+mn-lt"/>
              </a:rPr>
              <a:t>Automated &amp; Scalable Data Extraction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>
                <a:ea typeface="+mn-lt"/>
                <a:cs typeface="+mn-lt"/>
              </a:rPr>
              <a:t>→ Instead of manually copying job details, the scraper automatically extracts thousands of job listings with fields like title, company, location, description, salary, etc.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>
                <a:ea typeface="+mn-lt"/>
                <a:cs typeface="+mn-lt"/>
              </a:rPr>
              <a:t>This ensures large-scale, continuous data flow for both training and real-time prediction.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>
                <a:ea typeface="+mn-lt"/>
                <a:cs typeface="+mn-lt"/>
              </a:rPr>
              <a:t>Smart Crawling with Safety Rules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>
                <a:ea typeface="+mn-lt"/>
                <a:cs typeface="+mn-lt"/>
              </a:rPr>
              <a:t>As new job postings come in, the scraper keeps updating the dataset — enabling continuous retraining and adaptation to new fraud patterns.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>
                <a:ea typeface="+mn-lt"/>
                <a:cs typeface="+mn-lt"/>
              </a:rPr>
              <a:t>End-to-End Integration with Detection Pipeline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>
                <a:ea typeface="+mn-lt"/>
                <a:cs typeface="+mn-lt"/>
              </a:rPr>
              <a:t>→ Once jobs are scraped, their descriptions are automatically passed to the fraud detection model, which predicts the probability of being fake..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447214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D564-6C40-E2F1-6511-E12B5460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-2241"/>
            <a:ext cx="10909640" cy="8643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000"/>
              <a:t>Scrapper File</a:t>
            </a: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926B5E8-520B-C684-17C7-F7911ED77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" y="872086"/>
            <a:ext cx="5342195" cy="5981431"/>
          </a:xfrm>
          <a:prstGeom prst="rect">
            <a:avLst/>
          </a:prstGeom>
        </p:spPr>
      </p:pic>
      <p:pic>
        <p:nvPicPr>
          <p:cNvPr id="5" name="Picture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679402A-391E-0B6B-6CCF-1AC4C171E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891" y="860880"/>
            <a:ext cx="6850920" cy="599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47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AE868-C436-4A2E-2D48-77FCD401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EF66-AFAD-4E58-3A46-686D78F02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0035"/>
            <a:ext cx="10058400" cy="900953"/>
          </a:xfrm>
        </p:spPr>
        <p:txBody>
          <a:bodyPr>
            <a:normAutofit/>
          </a:bodyPr>
          <a:lstStyle/>
          <a:p>
            <a:pPr algn="ctr"/>
            <a:r>
              <a:rPr lang="en-US"/>
              <a:t>Plan 2.0 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C2C37B-97F4-368E-21BE-E93C52E6DD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9062074"/>
              </p:ext>
            </p:extLst>
          </p:nvPr>
        </p:nvGraphicFramePr>
        <p:xfrm>
          <a:off x="181536" y="1447211"/>
          <a:ext cx="11884957" cy="5159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35009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4e1ff0-7cba-4884-89b4-b271a5dfc0c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AD960FA5CCD246AEABAB2D3C39EACD" ma:contentTypeVersion="15" ma:contentTypeDescription="Create a new document." ma:contentTypeScope="" ma:versionID="e6e16687a35cae2e00539ea1eda035ca">
  <xsd:schema xmlns:xsd="http://www.w3.org/2001/XMLSchema" xmlns:xs="http://www.w3.org/2001/XMLSchema" xmlns:p="http://schemas.microsoft.com/office/2006/metadata/properties" xmlns:ns3="714e1ff0-7cba-4884-89b4-b271a5dfc0cf" xmlns:ns4="7a43632d-5aab-4d53-9588-6dcccd7f716b" targetNamespace="http://schemas.microsoft.com/office/2006/metadata/properties" ma:root="true" ma:fieldsID="b160302600791004b7d593aa961b0768" ns3:_="" ns4:_="">
    <xsd:import namespace="714e1ff0-7cba-4884-89b4-b271a5dfc0cf"/>
    <xsd:import namespace="7a43632d-5aab-4d53-9588-6dcccd7f71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e1ff0-7cba-4884-89b4-b271a5dfc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3632d-5aab-4d53-9588-6dcccd7f716b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777564-38B0-4935-BAC0-287D914B09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01414A-3C23-46D5-9714-A35090210033}">
  <ds:schemaRefs>
    <ds:schemaRef ds:uri="714e1ff0-7cba-4884-89b4-b271a5dfc0cf"/>
    <ds:schemaRef ds:uri="7a43632d-5aab-4d53-9588-6dcccd7f716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F88A6C-965F-4F40-820B-F63B5515EF0C}">
  <ds:schemaRefs>
    <ds:schemaRef ds:uri="714e1ff0-7cba-4884-89b4-b271a5dfc0cf"/>
    <ds:schemaRef ds:uri="7a43632d-5aab-4d53-9588-6dcccd7f71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Savon</vt:lpstr>
      <vt:lpstr>Army Institute Of Technology</vt:lpstr>
      <vt:lpstr>PROBLEM STATEMENT</vt:lpstr>
      <vt:lpstr>LITERATURE SURVEY  </vt:lpstr>
      <vt:lpstr>PowerPoint Presentation</vt:lpstr>
      <vt:lpstr>PowerPoint Presentation</vt:lpstr>
      <vt:lpstr>LITERATURE SURVEY SUMMARY </vt:lpstr>
      <vt:lpstr>Solution Innovation </vt:lpstr>
      <vt:lpstr>   </vt:lpstr>
      <vt:lpstr>Key Modules of the System</vt:lpstr>
      <vt:lpstr>PowerPoint Presentation</vt:lpstr>
      <vt:lpstr>PowerPoint Presentation</vt:lpstr>
      <vt:lpstr>Dataset SURVEY  </vt:lpstr>
      <vt:lpstr>Dataset Compare</vt:lpstr>
      <vt:lpstr>Dataset : Fake-Job-Posting-Detection</vt:lpstr>
      <vt:lpstr>Attribute Description</vt:lpstr>
      <vt:lpstr>Methodology</vt:lpstr>
      <vt:lpstr>Model Architecture</vt:lpstr>
      <vt:lpstr>Pretrain Model :- AventIQ-AI/BERT-Spam-Job-Posting-Detection-Model (1 year Older)</vt:lpstr>
      <vt:lpstr>Code For using the Pretrained Model :- </vt:lpstr>
      <vt:lpstr>Output Generated :- </vt:lpstr>
      <vt:lpstr>Scapper File</vt:lpstr>
      <vt:lpstr>Scrapper File</vt:lpstr>
      <vt:lpstr>Plan 2.0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4431 PIYUSH RAJ</dc:creator>
  <cp:revision>2</cp:revision>
  <dcterms:created xsi:type="dcterms:W3CDTF">2025-10-14T11:00:16Z</dcterms:created>
  <dcterms:modified xsi:type="dcterms:W3CDTF">2025-10-27T04:48:08Z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0x010100CEAD960FA5CCD246AEABAB2D3C39EACD</vt:lpwstr>
  </property>
</Properties>
</file>